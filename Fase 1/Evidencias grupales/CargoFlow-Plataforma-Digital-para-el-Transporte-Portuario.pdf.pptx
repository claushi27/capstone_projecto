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embeddedFontLst>
    <p:embeddedFont>
      <p:font typeface="Roboto Slab" charset="1" panose="00000000000000000000"/>
      <p:regular r:id="rId16"/>
    </p:embeddedFont>
    <p:embeddedFont>
      <p:font typeface="Roboto" charset="1" panose="02000000000000000000"/>
      <p:regular r:id="rId17"/>
    </p:embeddedFont>
    <p:embeddedFont>
      <p:font typeface="Roboto Slab Light" charset="1" panose="00000000000000000000"/>
      <p:regular r:id="rId18"/>
    </p:embeddedFont>
    <p:embeddedFont>
      <p:font typeface="Roboto Bold" charset="1" panose="020000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11" Target="../media/image11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14" Target="../media/image14.png" Type="http://schemas.openxmlformats.org/officeDocument/2006/relationships/image"/><Relationship Id="rId15" Target="../media/image15.svg" Type="http://schemas.openxmlformats.org/officeDocument/2006/relationships/image"/><Relationship Id="rId16" Target="../media/image16.png" Type="http://schemas.openxmlformats.org/officeDocument/2006/relationships/image"/><Relationship Id="rId17" Target="../media/image17.svg" Type="http://schemas.openxmlformats.org/officeDocument/2006/relationships/image"/><Relationship Id="rId18" Target="../media/image18.png" Type="http://schemas.openxmlformats.org/officeDocument/2006/relationships/image"/><Relationship Id="rId19" Target="../media/image19.svg" Type="http://schemas.openxmlformats.org/officeDocument/2006/relationships/image"/><Relationship Id="rId2" Target="../media/image2.png" Type="http://schemas.openxmlformats.org/officeDocument/2006/relationships/image"/><Relationship Id="rId20" Target="../media/image20.png" Type="http://schemas.openxmlformats.org/officeDocument/2006/relationships/image"/><Relationship Id="rId21" Target="../media/image21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00" Target="../media/image114.png" Type="http://schemas.openxmlformats.org/officeDocument/2006/relationships/image"/><Relationship Id="rId101" Target="../media/image115.svg" Type="http://schemas.openxmlformats.org/officeDocument/2006/relationships/image"/><Relationship Id="rId102" Target="../media/image116.png" Type="http://schemas.openxmlformats.org/officeDocument/2006/relationships/image"/><Relationship Id="rId103" Target="../media/image117.svg" Type="http://schemas.openxmlformats.org/officeDocument/2006/relationships/image"/><Relationship Id="rId104" Target="../media/image118.png" Type="http://schemas.openxmlformats.org/officeDocument/2006/relationships/image"/><Relationship Id="rId105" Target="../media/image119.svg" Type="http://schemas.openxmlformats.org/officeDocument/2006/relationships/image"/><Relationship Id="rId106" Target="../media/image120.png" Type="http://schemas.openxmlformats.org/officeDocument/2006/relationships/image"/><Relationship Id="rId107" Target="../media/image121.svg" Type="http://schemas.openxmlformats.org/officeDocument/2006/relationships/image"/><Relationship Id="rId108" Target="../media/image122.png" Type="http://schemas.openxmlformats.org/officeDocument/2006/relationships/image"/><Relationship Id="rId109" Target="../media/image123.svg" Type="http://schemas.openxmlformats.org/officeDocument/2006/relationships/image"/><Relationship Id="rId11" Target="../media/image25.png" Type="http://schemas.openxmlformats.org/officeDocument/2006/relationships/image"/><Relationship Id="rId110" Target="../media/image124.png" Type="http://schemas.openxmlformats.org/officeDocument/2006/relationships/image"/><Relationship Id="rId111" Target="../media/image125.svg" Type="http://schemas.openxmlformats.org/officeDocument/2006/relationships/image"/><Relationship Id="rId112" Target="../media/image126.png" Type="http://schemas.openxmlformats.org/officeDocument/2006/relationships/image"/><Relationship Id="rId113" Target="../media/image127.svg" Type="http://schemas.openxmlformats.org/officeDocument/2006/relationships/image"/><Relationship Id="rId114" Target="../media/image128.png" Type="http://schemas.openxmlformats.org/officeDocument/2006/relationships/image"/><Relationship Id="rId115" Target="../media/image129.svg" Type="http://schemas.openxmlformats.org/officeDocument/2006/relationships/image"/><Relationship Id="rId116" Target="../media/image130.png" Type="http://schemas.openxmlformats.org/officeDocument/2006/relationships/image"/><Relationship Id="rId117" Target="../media/image131.svg" Type="http://schemas.openxmlformats.org/officeDocument/2006/relationships/image"/><Relationship Id="rId118" Target="../media/image132.png" Type="http://schemas.openxmlformats.org/officeDocument/2006/relationships/image"/><Relationship Id="rId119" Target="../media/image133.svg" Type="http://schemas.openxmlformats.org/officeDocument/2006/relationships/image"/><Relationship Id="rId12" Target="../media/image26.svg" Type="http://schemas.openxmlformats.org/officeDocument/2006/relationships/image"/><Relationship Id="rId120" Target="../media/image134.png" Type="http://schemas.openxmlformats.org/officeDocument/2006/relationships/image"/><Relationship Id="rId121" Target="../media/image135.svg" Type="http://schemas.openxmlformats.org/officeDocument/2006/relationships/image"/><Relationship Id="rId122" Target="../media/image136.png" Type="http://schemas.openxmlformats.org/officeDocument/2006/relationships/image"/><Relationship Id="rId123" Target="../media/image137.svg" Type="http://schemas.openxmlformats.org/officeDocument/2006/relationships/image"/><Relationship Id="rId124" Target="../media/image138.png" Type="http://schemas.openxmlformats.org/officeDocument/2006/relationships/image"/><Relationship Id="rId125" Target="../media/image139.svg" Type="http://schemas.openxmlformats.org/officeDocument/2006/relationships/image"/><Relationship Id="rId126" Target="../media/image140.png" Type="http://schemas.openxmlformats.org/officeDocument/2006/relationships/image"/><Relationship Id="rId127" Target="../media/image141.svg" Type="http://schemas.openxmlformats.org/officeDocument/2006/relationships/image"/><Relationship Id="rId128" Target="../media/image142.png" Type="http://schemas.openxmlformats.org/officeDocument/2006/relationships/image"/><Relationship Id="rId129" Target="../media/image143.svg" Type="http://schemas.openxmlformats.org/officeDocument/2006/relationships/image"/><Relationship Id="rId13" Target="../media/image27.png" Type="http://schemas.openxmlformats.org/officeDocument/2006/relationships/image"/><Relationship Id="rId130" Target="../media/image144.png" Type="http://schemas.openxmlformats.org/officeDocument/2006/relationships/image"/><Relationship Id="rId131" Target="../media/image145.svg" Type="http://schemas.openxmlformats.org/officeDocument/2006/relationships/image"/><Relationship Id="rId132" Target="../media/image146.png" Type="http://schemas.openxmlformats.org/officeDocument/2006/relationships/image"/><Relationship Id="rId133" Target="../media/image147.svg" Type="http://schemas.openxmlformats.org/officeDocument/2006/relationships/image"/><Relationship Id="rId134" Target="../media/image148.png" Type="http://schemas.openxmlformats.org/officeDocument/2006/relationships/image"/><Relationship Id="rId135" Target="../media/image149.svg" Type="http://schemas.openxmlformats.org/officeDocument/2006/relationships/image"/><Relationship Id="rId136" Target="../media/image150.png" Type="http://schemas.openxmlformats.org/officeDocument/2006/relationships/image"/><Relationship Id="rId137" Target="../media/image151.svg" Type="http://schemas.openxmlformats.org/officeDocument/2006/relationships/image"/><Relationship Id="rId138" Target="../media/image152.png" Type="http://schemas.openxmlformats.org/officeDocument/2006/relationships/image"/><Relationship Id="rId139" Target="../media/image153.svg" Type="http://schemas.openxmlformats.org/officeDocument/2006/relationships/image"/><Relationship Id="rId14" Target="../media/image28.svg" Type="http://schemas.openxmlformats.org/officeDocument/2006/relationships/image"/><Relationship Id="rId140" Target="../media/image154.png" Type="http://schemas.openxmlformats.org/officeDocument/2006/relationships/image"/><Relationship Id="rId141" Target="../media/image155.svg" Type="http://schemas.openxmlformats.org/officeDocument/2006/relationships/image"/><Relationship Id="rId142" Target="../media/image156.png" Type="http://schemas.openxmlformats.org/officeDocument/2006/relationships/image"/><Relationship Id="rId143" Target="../media/image157.svg" Type="http://schemas.openxmlformats.org/officeDocument/2006/relationships/image"/><Relationship Id="rId144" Target="../media/image158.png" Type="http://schemas.openxmlformats.org/officeDocument/2006/relationships/image"/><Relationship Id="rId145" Target="../media/image159.svg" Type="http://schemas.openxmlformats.org/officeDocument/2006/relationships/image"/><Relationship Id="rId146" Target="../media/image160.png" Type="http://schemas.openxmlformats.org/officeDocument/2006/relationships/image"/><Relationship Id="rId147" Target="../media/image161.svg" Type="http://schemas.openxmlformats.org/officeDocument/2006/relationships/image"/><Relationship Id="rId148" Target="../media/image162.png" Type="http://schemas.openxmlformats.org/officeDocument/2006/relationships/image"/><Relationship Id="rId149" Target="../media/image163.svg" Type="http://schemas.openxmlformats.org/officeDocument/2006/relationships/image"/><Relationship Id="rId15" Target="../media/image29.png" Type="http://schemas.openxmlformats.org/officeDocument/2006/relationships/image"/><Relationship Id="rId16" Target="../media/image30.svg" Type="http://schemas.openxmlformats.org/officeDocument/2006/relationships/image"/><Relationship Id="rId17" Target="../media/image31.png" Type="http://schemas.openxmlformats.org/officeDocument/2006/relationships/image"/><Relationship Id="rId18" Target="../media/image32.svg" Type="http://schemas.openxmlformats.org/officeDocument/2006/relationships/image"/><Relationship Id="rId19" Target="../media/image33.png" Type="http://schemas.openxmlformats.org/officeDocument/2006/relationships/image"/><Relationship Id="rId2" Target="../media/image2.png" Type="http://schemas.openxmlformats.org/officeDocument/2006/relationships/image"/><Relationship Id="rId20" Target="../media/image34.svg" Type="http://schemas.openxmlformats.org/officeDocument/2006/relationships/image"/><Relationship Id="rId21" Target="../media/image35.png" Type="http://schemas.openxmlformats.org/officeDocument/2006/relationships/image"/><Relationship Id="rId22" Target="../media/image36.svg" Type="http://schemas.openxmlformats.org/officeDocument/2006/relationships/image"/><Relationship Id="rId23" Target="../media/image37.png" Type="http://schemas.openxmlformats.org/officeDocument/2006/relationships/image"/><Relationship Id="rId24" Target="../media/image38.svg" Type="http://schemas.openxmlformats.org/officeDocument/2006/relationships/image"/><Relationship Id="rId25" Target="../media/image39.png" Type="http://schemas.openxmlformats.org/officeDocument/2006/relationships/image"/><Relationship Id="rId26" Target="../media/image40.svg" Type="http://schemas.openxmlformats.org/officeDocument/2006/relationships/image"/><Relationship Id="rId27" Target="../media/image41.png" Type="http://schemas.openxmlformats.org/officeDocument/2006/relationships/image"/><Relationship Id="rId28" Target="../media/image42.svg" Type="http://schemas.openxmlformats.org/officeDocument/2006/relationships/image"/><Relationship Id="rId29" Target="../media/image43.png" Type="http://schemas.openxmlformats.org/officeDocument/2006/relationships/image"/><Relationship Id="rId3" Target="../media/image3.svg" Type="http://schemas.openxmlformats.org/officeDocument/2006/relationships/image"/><Relationship Id="rId30" Target="../media/image44.svg" Type="http://schemas.openxmlformats.org/officeDocument/2006/relationships/image"/><Relationship Id="rId31" Target="../media/image45.svg" Type="http://schemas.openxmlformats.org/officeDocument/2006/relationships/image"/><Relationship Id="rId32" Target="../media/image46.png" Type="http://schemas.openxmlformats.org/officeDocument/2006/relationships/image"/><Relationship Id="rId33" Target="../media/image47.png" Type="http://schemas.openxmlformats.org/officeDocument/2006/relationships/image"/><Relationship Id="rId34" Target="../media/image48.svg" Type="http://schemas.openxmlformats.org/officeDocument/2006/relationships/image"/><Relationship Id="rId35" Target="../media/image49.png" Type="http://schemas.openxmlformats.org/officeDocument/2006/relationships/image"/><Relationship Id="rId36" Target="../media/image50.svg" Type="http://schemas.openxmlformats.org/officeDocument/2006/relationships/image"/><Relationship Id="rId37" Target="../media/image51.png" Type="http://schemas.openxmlformats.org/officeDocument/2006/relationships/image"/><Relationship Id="rId38" Target="../media/image52.svg" Type="http://schemas.openxmlformats.org/officeDocument/2006/relationships/image"/><Relationship Id="rId39" Target="../media/image53.png" Type="http://schemas.openxmlformats.org/officeDocument/2006/relationships/image"/><Relationship Id="rId4" Target="../media/image4.png" Type="http://schemas.openxmlformats.org/officeDocument/2006/relationships/image"/><Relationship Id="rId40" Target="../media/image54.svg" Type="http://schemas.openxmlformats.org/officeDocument/2006/relationships/image"/><Relationship Id="rId41" Target="../media/image55.png" Type="http://schemas.openxmlformats.org/officeDocument/2006/relationships/image"/><Relationship Id="rId42" Target="../media/image56.svg" Type="http://schemas.openxmlformats.org/officeDocument/2006/relationships/image"/><Relationship Id="rId43" Target="../media/image57.png" Type="http://schemas.openxmlformats.org/officeDocument/2006/relationships/image"/><Relationship Id="rId44" Target="../media/image58.svg" Type="http://schemas.openxmlformats.org/officeDocument/2006/relationships/image"/><Relationship Id="rId45" Target="../media/image59.png" Type="http://schemas.openxmlformats.org/officeDocument/2006/relationships/image"/><Relationship Id="rId46" Target="../media/image60.svg" Type="http://schemas.openxmlformats.org/officeDocument/2006/relationships/image"/><Relationship Id="rId47" Target="../media/image61.png" Type="http://schemas.openxmlformats.org/officeDocument/2006/relationships/image"/><Relationship Id="rId48" Target="../media/image62.svg" Type="http://schemas.openxmlformats.org/officeDocument/2006/relationships/image"/><Relationship Id="rId49" Target="../media/image63.png" Type="http://schemas.openxmlformats.org/officeDocument/2006/relationships/image"/><Relationship Id="rId5" Target="../media/image5.svg" Type="http://schemas.openxmlformats.org/officeDocument/2006/relationships/image"/><Relationship Id="rId50" Target="../media/image64.png" Type="http://schemas.openxmlformats.org/officeDocument/2006/relationships/image"/><Relationship Id="rId51" Target="../media/image65.svg" Type="http://schemas.openxmlformats.org/officeDocument/2006/relationships/image"/><Relationship Id="rId52" Target="../media/image66.png" Type="http://schemas.openxmlformats.org/officeDocument/2006/relationships/image"/><Relationship Id="rId53" Target="../media/image67.svg" Type="http://schemas.openxmlformats.org/officeDocument/2006/relationships/image"/><Relationship Id="rId54" Target="../media/image68.png" Type="http://schemas.openxmlformats.org/officeDocument/2006/relationships/image"/><Relationship Id="rId55" Target="../media/image69.svg" Type="http://schemas.openxmlformats.org/officeDocument/2006/relationships/image"/><Relationship Id="rId56" Target="../media/image70.png" Type="http://schemas.openxmlformats.org/officeDocument/2006/relationships/image"/><Relationship Id="rId57" Target="../media/image71.svg" Type="http://schemas.openxmlformats.org/officeDocument/2006/relationships/image"/><Relationship Id="rId58" Target="../media/image72.png" Type="http://schemas.openxmlformats.org/officeDocument/2006/relationships/image"/><Relationship Id="rId59" Target="../media/image73.svg" Type="http://schemas.openxmlformats.org/officeDocument/2006/relationships/image"/><Relationship Id="rId6" Target="../media/image6.png" Type="http://schemas.openxmlformats.org/officeDocument/2006/relationships/image"/><Relationship Id="rId60" Target="../media/image74.png" Type="http://schemas.openxmlformats.org/officeDocument/2006/relationships/image"/><Relationship Id="rId61" Target="../media/image75.svg" Type="http://schemas.openxmlformats.org/officeDocument/2006/relationships/image"/><Relationship Id="rId62" Target="../media/image76.png" Type="http://schemas.openxmlformats.org/officeDocument/2006/relationships/image"/><Relationship Id="rId63" Target="../media/image77.svg" Type="http://schemas.openxmlformats.org/officeDocument/2006/relationships/image"/><Relationship Id="rId64" Target="../media/image78.png" Type="http://schemas.openxmlformats.org/officeDocument/2006/relationships/image"/><Relationship Id="rId65" Target="../media/image79.svg" Type="http://schemas.openxmlformats.org/officeDocument/2006/relationships/image"/><Relationship Id="rId66" Target="../media/image80.png" Type="http://schemas.openxmlformats.org/officeDocument/2006/relationships/image"/><Relationship Id="rId67" Target="../media/image81.svg" Type="http://schemas.openxmlformats.org/officeDocument/2006/relationships/image"/><Relationship Id="rId68" Target="../media/image82.png" Type="http://schemas.openxmlformats.org/officeDocument/2006/relationships/image"/><Relationship Id="rId69" Target="../media/image83.svg" Type="http://schemas.openxmlformats.org/officeDocument/2006/relationships/image"/><Relationship Id="rId7" Target="../media/image7.svg" Type="http://schemas.openxmlformats.org/officeDocument/2006/relationships/image"/><Relationship Id="rId70" Target="../media/image84.png" Type="http://schemas.openxmlformats.org/officeDocument/2006/relationships/image"/><Relationship Id="rId71" Target="../media/image85.svg" Type="http://schemas.openxmlformats.org/officeDocument/2006/relationships/image"/><Relationship Id="rId72" Target="../media/image86.png" Type="http://schemas.openxmlformats.org/officeDocument/2006/relationships/image"/><Relationship Id="rId73" Target="../media/image87.svg" Type="http://schemas.openxmlformats.org/officeDocument/2006/relationships/image"/><Relationship Id="rId74" Target="../media/image88.png" Type="http://schemas.openxmlformats.org/officeDocument/2006/relationships/image"/><Relationship Id="rId75" Target="../media/image89.svg" Type="http://schemas.openxmlformats.org/officeDocument/2006/relationships/image"/><Relationship Id="rId76" Target="../media/image90.svg" Type="http://schemas.openxmlformats.org/officeDocument/2006/relationships/image"/><Relationship Id="rId77" Target="../media/image91.png" Type="http://schemas.openxmlformats.org/officeDocument/2006/relationships/image"/><Relationship Id="rId78" Target="../media/image92.png" Type="http://schemas.openxmlformats.org/officeDocument/2006/relationships/image"/><Relationship Id="rId79" Target="../media/image93.svg" Type="http://schemas.openxmlformats.org/officeDocument/2006/relationships/image"/><Relationship Id="rId8" Target="../media/image22.png" Type="http://schemas.openxmlformats.org/officeDocument/2006/relationships/image"/><Relationship Id="rId80" Target="../media/image94.png" Type="http://schemas.openxmlformats.org/officeDocument/2006/relationships/image"/><Relationship Id="rId81" Target="../media/image95.svg" Type="http://schemas.openxmlformats.org/officeDocument/2006/relationships/image"/><Relationship Id="rId82" Target="../media/image96.png" Type="http://schemas.openxmlformats.org/officeDocument/2006/relationships/image"/><Relationship Id="rId83" Target="../media/image97.svg" Type="http://schemas.openxmlformats.org/officeDocument/2006/relationships/image"/><Relationship Id="rId84" Target="../media/image98.png" Type="http://schemas.openxmlformats.org/officeDocument/2006/relationships/image"/><Relationship Id="rId85" Target="../media/image99.svg" Type="http://schemas.openxmlformats.org/officeDocument/2006/relationships/image"/><Relationship Id="rId86" Target="../media/image100.png" Type="http://schemas.openxmlformats.org/officeDocument/2006/relationships/image"/><Relationship Id="rId87" Target="../media/image101.svg" Type="http://schemas.openxmlformats.org/officeDocument/2006/relationships/image"/><Relationship Id="rId88" Target="../media/image102.png" Type="http://schemas.openxmlformats.org/officeDocument/2006/relationships/image"/><Relationship Id="rId89" Target="../media/image103.svg" Type="http://schemas.openxmlformats.org/officeDocument/2006/relationships/image"/><Relationship Id="rId9" Target="../media/image23.svg" Type="http://schemas.openxmlformats.org/officeDocument/2006/relationships/image"/><Relationship Id="rId90" Target="../media/image104.png" Type="http://schemas.openxmlformats.org/officeDocument/2006/relationships/image"/><Relationship Id="rId91" Target="../media/image105.svg" Type="http://schemas.openxmlformats.org/officeDocument/2006/relationships/image"/><Relationship Id="rId92" Target="../media/image106.png" Type="http://schemas.openxmlformats.org/officeDocument/2006/relationships/image"/><Relationship Id="rId93" Target="../media/image107.svg" Type="http://schemas.openxmlformats.org/officeDocument/2006/relationships/image"/><Relationship Id="rId94" Target="../media/image108.png" Type="http://schemas.openxmlformats.org/officeDocument/2006/relationships/image"/><Relationship Id="rId95" Target="../media/image109.svg" Type="http://schemas.openxmlformats.org/officeDocument/2006/relationships/image"/><Relationship Id="rId96" Target="../media/image110.png" Type="http://schemas.openxmlformats.org/officeDocument/2006/relationships/image"/><Relationship Id="rId97" Target="../media/image111.svg" Type="http://schemas.openxmlformats.org/officeDocument/2006/relationships/image"/><Relationship Id="rId98" Target="../media/image112.png" Type="http://schemas.openxmlformats.org/officeDocument/2006/relationships/image"/><Relationship Id="rId99" Target="../media/image1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4.png" Type="http://schemas.openxmlformats.org/officeDocument/2006/relationships/image"/><Relationship Id="rId3" Target="../media/image165.svg" Type="http://schemas.openxmlformats.org/officeDocument/2006/relationships/image"/><Relationship Id="rId4" Target="../media/image166.svg" Type="http://schemas.openxmlformats.org/officeDocument/2006/relationships/image"/><Relationship Id="rId5" Target="../media/image167.svg" Type="http://schemas.openxmlformats.org/officeDocument/2006/relationships/image"/><Relationship Id="rId6" Target="../media/image16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9.jpeg" Type="http://schemas.openxmlformats.org/officeDocument/2006/relationships/image"/><Relationship Id="rId3" Target="../media/image170.jpeg" Type="http://schemas.openxmlformats.org/officeDocument/2006/relationships/image"/><Relationship Id="rId4" Target="../media/image17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2.svg" Type="http://schemas.openxmlformats.org/officeDocument/2006/relationships/image"/><Relationship Id="rId2" Target="../media/image174.jpeg" Type="http://schemas.openxmlformats.org/officeDocument/2006/relationships/image"/><Relationship Id="rId3" Target="../media/image175.png" Type="http://schemas.openxmlformats.org/officeDocument/2006/relationships/image"/><Relationship Id="rId4" Target="../media/image176.svg" Type="http://schemas.openxmlformats.org/officeDocument/2006/relationships/image"/><Relationship Id="rId5" Target="../media/image177.png" Type="http://schemas.openxmlformats.org/officeDocument/2006/relationships/image"/><Relationship Id="rId6" Target="../media/image178.svg" Type="http://schemas.openxmlformats.org/officeDocument/2006/relationships/image"/><Relationship Id="rId7" Target="../media/image179.png" Type="http://schemas.openxmlformats.org/officeDocument/2006/relationships/image"/><Relationship Id="rId8" Target="../media/image180.svg" Type="http://schemas.openxmlformats.org/officeDocument/2006/relationships/image"/><Relationship Id="rId9" Target="../media/image18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20000" y="0"/>
            <a:ext cx="4572000" cy="6858000"/>
            <a:chOff x="0" y="0"/>
            <a:chExt cx="609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" t="0" r="-6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3722" y="4660897"/>
            <a:ext cx="6213472" cy="412747"/>
            <a:chOff x="0" y="0"/>
            <a:chExt cx="6213475" cy="4127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2581148" cy="285623"/>
            </a:xfrm>
            <a:custGeom>
              <a:avLst/>
              <a:gdLst/>
              <a:ahLst/>
              <a:cxnLst/>
              <a:rect r="r" b="b" t="t" l="l"/>
              <a:pathLst>
                <a:path h="285623" w="2581148">
                  <a:moveTo>
                    <a:pt x="0" y="266827"/>
                  </a:moveTo>
                  <a:lnTo>
                    <a:pt x="0" y="18923"/>
                  </a:lnTo>
                  <a:cubicBezTo>
                    <a:pt x="0" y="16383"/>
                    <a:pt x="508" y="13970"/>
                    <a:pt x="1397" y="11684"/>
                  </a:cubicBezTo>
                  <a:cubicBezTo>
                    <a:pt x="2286" y="9398"/>
                    <a:pt x="3683" y="7366"/>
                    <a:pt x="5461" y="5588"/>
                  </a:cubicBezTo>
                  <a:cubicBezTo>
                    <a:pt x="7239" y="3810"/>
                    <a:pt x="9271" y="2413"/>
                    <a:pt x="11557" y="1524"/>
                  </a:cubicBezTo>
                  <a:cubicBezTo>
                    <a:pt x="13843" y="635"/>
                    <a:pt x="16383" y="0"/>
                    <a:pt x="18923" y="0"/>
                  </a:cubicBezTo>
                  <a:lnTo>
                    <a:pt x="2562352" y="0"/>
                  </a:lnTo>
                  <a:cubicBezTo>
                    <a:pt x="2564892" y="0"/>
                    <a:pt x="2567305" y="508"/>
                    <a:pt x="2569591" y="1397"/>
                  </a:cubicBezTo>
                  <a:cubicBezTo>
                    <a:pt x="2571877" y="2286"/>
                    <a:pt x="2573909" y="3683"/>
                    <a:pt x="2575687" y="5461"/>
                  </a:cubicBezTo>
                  <a:cubicBezTo>
                    <a:pt x="2577465" y="7239"/>
                    <a:pt x="2578862" y="9271"/>
                    <a:pt x="2579751" y="11557"/>
                  </a:cubicBezTo>
                  <a:cubicBezTo>
                    <a:pt x="2580640" y="13843"/>
                    <a:pt x="2581148" y="16256"/>
                    <a:pt x="2581148" y="18796"/>
                  </a:cubicBezTo>
                  <a:lnTo>
                    <a:pt x="2581148" y="266827"/>
                  </a:lnTo>
                  <a:cubicBezTo>
                    <a:pt x="2581148" y="269367"/>
                    <a:pt x="2580640" y="271780"/>
                    <a:pt x="2579751" y="274066"/>
                  </a:cubicBezTo>
                  <a:cubicBezTo>
                    <a:pt x="2578862" y="276352"/>
                    <a:pt x="2577465" y="278384"/>
                    <a:pt x="2575687" y="280162"/>
                  </a:cubicBezTo>
                  <a:cubicBezTo>
                    <a:pt x="2573909" y="281940"/>
                    <a:pt x="2571877" y="283337"/>
                    <a:pt x="2569591" y="284226"/>
                  </a:cubicBezTo>
                  <a:cubicBezTo>
                    <a:pt x="2567305" y="285115"/>
                    <a:pt x="2564892" y="285623"/>
                    <a:pt x="2562352" y="285623"/>
                  </a:cubicBezTo>
                  <a:lnTo>
                    <a:pt x="18923" y="285623"/>
                  </a:lnTo>
                  <a:cubicBezTo>
                    <a:pt x="16383" y="285623"/>
                    <a:pt x="13970" y="285115"/>
                    <a:pt x="11684" y="284226"/>
                  </a:cubicBezTo>
                  <a:cubicBezTo>
                    <a:pt x="9398" y="283337"/>
                    <a:pt x="7366" y="281940"/>
                    <a:pt x="5588" y="280162"/>
                  </a:cubicBezTo>
                  <a:cubicBezTo>
                    <a:pt x="3810" y="278384"/>
                    <a:pt x="2413" y="276352"/>
                    <a:pt x="1524" y="274066"/>
                  </a:cubicBezTo>
                  <a:cubicBezTo>
                    <a:pt x="635" y="271780"/>
                    <a:pt x="0" y="269367"/>
                    <a:pt x="0" y="266827"/>
                  </a:cubicBezTo>
                  <a:close/>
                </a:path>
              </a:pathLst>
            </a:custGeom>
            <a:solidFill>
              <a:srgbClr val="08254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740025" y="63500"/>
              <a:ext cx="1609598" cy="285623"/>
            </a:xfrm>
            <a:custGeom>
              <a:avLst/>
              <a:gdLst/>
              <a:ahLst/>
              <a:cxnLst/>
              <a:rect r="r" b="b" t="t" l="l"/>
              <a:pathLst>
                <a:path h="285623" w="1609598">
                  <a:moveTo>
                    <a:pt x="0" y="266827"/>
                  </a:moveTo>
                  <a:lnTo>
                    <a:pt x="0" y="18923"/>
                  </a:lnTo>
                  <a:lnTo>
                    <a:pt x="4826" y="18923"/>
                  </a:lnTo>
                  <a:lnTo>
                    <a:pt x="0" y="18923"/>
                  </a:lnTo>
                  <a:cubicBezTo>
                    <a:pt x="0" y="16383"/>
                    <a:pt x="508" y="13970"/>
                    <a:pt x="1397" y="11684"/>
                  </a:cubicBezTo>
                  <a:cubicBezTo>
                    <a:pt x="2413" y="9398"/>
                    <a:pt x="3683" y="7366"/>
                    <a:pt x="5461" y="5588"/>
                  </a:cubicBezTo>
                  <a:lnTo>
                    <a:pt x="8890" y="9017"/>
                  </a:lnTo>
                  <a:lnTo>
                    <a:pt x="5461" y="5588"/>
                  </a:lnTo>
                  <a:cubicBezTo>
                    <a:pt x="7239" y="3810"/>
                    <a:pt x="9271" y="2413"/>
                    <a:pt x="11557" y="1524"/>
                  </a:cubicBezTo>
                  <a:cubicBezTo>
                    <a:pt x="13843" y="508"/>
                    <a:pt x="16256" y="127"/>
                    <a:pt x="18796" y="127"/>
                  </a:cubicBezTo>
                  <a:lnTo>
                    <a:pt x="18796" y="4953"/>
                  </a:lnTo>
                  <a:lnTo>
                    <a:pt x="18796" y="0"/>
                  </a:lnTo>
                  <a:lnTo>
                    <a:pt x="1590802" y="0"/>
                  </a:lnTo>
                  <a:lnTo>
                    <a:pt x="1590802" y="4826"/>
                  </a:lnTo>
                  <a:lnTo>
                    <a:pt x="1590802" y="0"/>
                  </a:lnTo>
                  <a:cubicBezTo>
                    <a:pt x="1593342" y="0"/>
                    <a:pt x="1595755" y="508"/>
                    <a:pt x="1598041" y="1397"/>
                  </a:cubicBezTo>
                  <a:cubicBezTo>
                    <a:pt x="1600327" y="2413"/>
                    <a:pt x="1602359" y="3683"/>
                    <a:pt x="1604137" y="5461"/>
                  </a:cubicBezTo>
                  <a:lnTo>
                    <a:pt x="1600708" y="8890"/>
                  </a:lnTo>
                  <a:lnTo>
                    <a:pt x="1604137" y="5461"/>
                  </a:lnTo>
                  <a:cubicBezTo>
                    <a:pt x="1605915" y="7239"/>
                    <a:pt x="1607312" y="9271"/>
                    <a:pt x="1608201" y="11557"/>
                  </a:cubicBezTo>
                  <a:lnTo>
                    <a:pt x="1603756" y="13335"/>
                  </a:lnTo>
                  <a:lnTo>
                    <a:pt x="1608201" y="11557"/>
                  </a:lnTo>
                  <a:cubicBezTo>
                    <a:pt x="1609217" y="13843"/>
                    <a:pt x="1609598" y="16256"/>
                    <a:pt x="1609598" y="18796"/>
                  </a:cubicBezTo>
                  <a:lnTo>
                    <a:pt x="1609598" y="266827"/>
                  </a:lnTo>
                  <a:cubicBezTo>
                    <a:pt x="1609598" y="269367"/>
                    <a:pt x="1609090" y="271780"/>
                    <a:pt x="1608201" y="274066"/>
                  </a:cubicBezTo>
                  <a:lnTo>
                    <a:pt x="1603756" y="272288"/>
                  </a:lnTo>
                  <a:lnTo>
                    <a:pt x="1608201" y="274066"/>
                  </a:lnTo>
                  <a:cubicBezTo>
                    <a:pt x="1607185" y="276352"/>
                    <a:pt x="1605915" y="278384"/>
                    <a:pt x="1604137" y="280162"/>
                  </a:cubicBezTo>
                  <a:cubicBezTo>
                    <a:pt x="1602359" y="281940"/>
                    <a:pt x="1600327" y="283337"/>
                    <a:pt x="1598041" y="284226"/>
                  </a:cubicBezTo>
                  <a:lnTo>
                    <a:pt x="1596263" y="279781"/>
                  </a:lnTo>
                  <a:lnTo>
                    <a:pt x="1598041" y="284226"/>
                  </a:lnTo>
                  <a:cubicBezTo>
                    <a:pt x="1595755" y="285242"/>
                    <a:pt x="1593342" y="285623"/>
                    <a:pt x="1590802" y="285623"/>
                  </a:cubicBezTo>
                  <a:lnTo>
                    <a:pt x="18923" y="285623"/>
                  </a:lnTo>
                  <a:cubicBezTo>
                    <a:pt x="16383" y="285623"/>
                    <a:pt x="13970" y="285115"/>
                    <a:pt x="11684" y="284226"/>
                  </a:cubicBezTo>
                  <a:lnTo>
                    <a:pt x="13462" y="279781"/>
                  </a:lnTo>
                  <a:lnTo>
                    <a:pt x="11684" y="284226"/>
                  </a:lnTo>
                  <a:cubicBezTo>
                    <a:pt x="9398" y="283210"/>
                    <a:pt x="7366" y="281940"/>
                    <a:pt x="5588" y="280162"/>
                  </a:cubicBezTo>
                  <a:cubicBezTo>
                    <a:pt x="3810" y="278384"/>
                    <a:pt x="2413" y="276352"/>
                    <a:pt x="1524" y="274066"/>
                  </a:cubicBezTo>
                  <a:cubicBezTo>
                    <a:pt x="508" y="271780"/>
                    <a:pt x="127" y="269367"/>
                    <a:pt x="127" y="266827"/>
                  </a:cubicBezTo>
                  <a:lnTo>
                    <a:pt x="4953" y="266827"/>
                  </a:lnTo>
                  <a:lnTo>
                    <a:pt x="127" y="266827"/>
                  </a:lnTo>
                  <a:moveTo>
                    <a:pt x="9652" y="266827"/>
                  </a:moveTo>
                  <a:cubicBezTo>
                    <a:pt x="9652" y="268097"/>
                    <a:pt x="9906" y="269240"/>
                    <a:pt x="10414" y="270383"/>
                  </a:cubicBezTo>
                  <a:lnTo>
                    <a:pt x="5969" y="272161"/>
                  </a:lnTo>
                  <a:lnTo>
                    <a:pt x="10414" y="270383"/>
                  </a:lnTo>
                  <a:cubicBezTo>
                    <a:pt x="10922" y="271526"/>
                    <a:pt x="11557" y="272542"/>
                    <a:pt x="12446" y="273431"/>
                  </a:cubicBezTo>
                  <a:lnTo>
                    <a:pt x="9017" y="276860"/>
                  </a:lnTo>
                  <a:lnTo>
                    <a:pt x="12446" y="273431"/>
                  </a:lnTo>
                  <a:cubicBezTo>
                    <a:pt x="13335" y="274320"/>
                    <a:pt x="14351" y="274955"/>
                    <a:pt x="15494" y="275463"/>
                  </a:cubicBezTo>
                  <a:cubicBezTo>
                    <a:pt x="16637" y="275971"/>
                    <a:pt x="17780" y="276225"/>
                    <a:pt x="19050" y="276225"/>
                  </a:cubicBezTo>
                  <a:lnTo>
                    <a:pt x="19050" y="280924"/>
                  </a:lnTo>
                  <a:lnTo>
                    <a:pt x="19050" y="276098"/>
                  </a:lnTo>
                  <a:lnTo>
                    <a:pt x="1590802" y="276098"/>
                  </a:lnTo>
                  <a:lnTo>
                    <a:pt x="1590802" y="280924"/>
                  </a:lnTo>
                  <a:lnTo>
                    <a:pt x="1590802" y="276225"/>
                  </a:lnTo>
                  <a:cubicBezTo>
                    <a:pt x="1592072" y="276225"/>
                    <a:pt x="1593215" y="275971"/>
                    <a:pt x="1594358" y="275463"/>
                  </a:cubicBezTo>
                  <a:cubicBezTo>
                    <a:pt x="1595501" y="274955"/>
                    <a:pt x="1596517" y="274320"/>
                    <a:pt x="1597406" y="273431"/>
                  </a:cubicBezTo>
                  <a:lnTo>
                    <a:pt x="1600835" y="276860"/>
                  </a:lnTo>
                  <a:lnTo>
                    <a:pt x="1597406" y="273431"/>
                  </a:lnTo>
                  <a:cubicBezTo>
                    <a:pt x="1598295" y="272542"/>
                    <a:pt x="1598930" y="271526"/>
                    <a:pt x="1599438" y="270383"/>
                  </a:cubicBezTo>
                  <a:cubicBezTo>
                    <a:pt x="1599946" y="269240"/>
                    <a:pt x="1600200" y="268097"/>
                    <a:pt x="1600200" y="266827"/>
                  </a:cubicBezTo>
                  <a:lnTo>
                    <a:pt x="1604899" y="266827"/>
                  </a:lnTo>
                  <a:lnTo>
                    <a:pt x="1600073" y="266827"/>
                  </a:lnTo>
                  <a:lnTo>
                    <a:pt x="1600073" y="18923"/>
                  </a:lnTo>
                  <a:lnTo>
                    <a:pt x="1604899" y="18923"/>
                  </a:lnTo>
                  <a:lnTo>
                    <a:pt x="1600200" y="18923"/>
                  </a:lnTo>
                  <a:cubicBezTo>
                    <a:pt x="1600200" y="17653"/>
                    <a:pt x="1599946" y="16510"/>
                    <a:pt x="1599438" y="15367"/>
                  </a:cubicBezTo>
                  <a:cubicBezTo>
                    <a:pt x="1598930" y="14224"/>
                    <a:pt x="1598295" y="13208"/>
                    <a:pt x="1597406" y="12319"/>
                  </a:cubicBezTo>
                  <a:cubicBezTo>
                    <a:pt x="1596517" y="11430"/>
                    <a:pt x="1595501" y="10795"/>
                    <a:pt x="1594358" y="10287"/>
                  </a:cubicBezTo>
                  <a:lnTo>
                    <a:pt x="1596136" y="5842"/>
                  </a:lnTo>
                  <a:lnTo>
                    <a:pt x="1594358" y="10287"/>
                  </a:lnTo>
                  <a:cubicBezTo>
                    <a:pt x="1593215" y="9779"/>
                    <a:pt x="1592072" y="9525"/>
                    <a:pt x="1590802" y="9525"/>
                  </a:cubicBezTo>
                  <a:lnTo>
                    <a:pt x="18923" y="9525"/>
                  </a:lnTo>
                  <a:cubicBezTo>
                    <a:pt x="17653" y="9525"/>
                    <a:pt x="16510" y="9779"/>
                    <a:pt x="15367" y="10287"/>
                  </a:cubicBezTo>
                  <a:lnTo>
                    <a:pt x="13589" y="5842"/>
                  </a:lnTo>
                  <a:lnTo>
                    <a:pt x="15367" y="10287"/>
                  </a:lnTo>
                  <a:cubicBezTo>
                    <a:pt x="14224" y="10795"/>
                    <a:pt x="13208" y="11430"/>
                    <a:pt x="12319" y="12319"/>
                  </a:cubicBezTo>
                  <a:cubicBezTo>
                    <a:pt x="11430" y="13208"/>
                    <a:pt x="10795" y="14224"/>
                    <a:pt x="10287" y="15367"/>
                  </a:cubicBezTo>
                  <a:lnTo>
                    <a:pt x="5842" y="13589"/>
                  </a:lnTo>
                  <a:lnTo>
                    <a:pt x="10287" y="15367"/>
                  </a:lnTo>
                  <a:cubicBezTo>
                    <a:pt x="9779" y="16510"/>
                    <a:pt x="9525" y="17653"/>
                    <a:pt x="9525" y="18923"/>
                  </a:cubicBezTo>
                  <a:lnTo>
                    <a:pt x="9525" y="266827"/>
                  </a:lnTo>
                  <a:close/>
                </a:path>
              </a:pathLst>
            </a:custGeom>
            <a:solidFill>
              <a:srgbClr val="66A8EE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4445000" y="63500"/>
              <a:ext cx="1704848" cy="285623"/>
            </a:xfrm>
            <a:custGeom>
              <a:avLst/>
              <a:gdLst/>
              <a:ahLst/>
              <a:cxnLst/>
              <a:rect r="r" b="b" t="t" l="l"/>
              <a:pathLst>
                <a:path h="285623" w="1704848">
                  <a:moveTo>
                    <a:pt x="0" y="266827"/>
                  </a:moveTo>
                  <a:lnTo>
                    <a:pt x="0" y="18923"/>
                  </a:lnTo>
                  <a:lnTo>
                    <a:pt x="4826" y="18923"/>
                  </a:lnTo>
                  <a:lnTo>
                    <a:pt x="127" y="18923"/>
                  </a:lnTo>
                  <a:cubicBezTo>
                    <a:pt x="127" y="16383"/>
                    <a:pt x="635" y="13970"/>
                    <a:pt x="1524" y="11684"/>
                  </a:cubicBezTo>
                  <a:lnTo>
                    <a:pt x="5969" y="13462"/>
                  </a:lnTo>
                  <a:lnTo>
                    <a:pt x="1524" y="11684"/>
                  </a:lnTo>
                  <a:cubicBezTo>
                    <a:pt x="2540" y="9398"/>
                    <a:pt x="3810" y="7366"/>
                    <a:pt x="5588" y="5588"/>
                  </a:cubicBezTo>
                  <a:lnTo>
                    <a:pt x="9017" y="9017"/>
                  </a:lnTo>
                  <a:lnTo>
                    <a:pt x="5588" y="5588"/>
                  </a:lnTo>
                  <a:cubicBezTo>
                    <a:pt x="7366" y="3810"/>
                    <a:pt x="9398" y="2413"/>
                    <a:pt x="11684" y="1524"/>
                  </a:cubicBezTo>
                  <a:cubicBezTo>
                    <a:pt x="13970" y="508"/>
                    <a:pt x="16383" y="127"/>
                    <a:pt x="18923" y="127"/>
                  </a:cubicBezTo>
                  <a:lnTo>
                    <a:pt x="18923" y="4953"/>
                  </a:lnTo>
                  <a:lnTo>
                    <a:pt x="18923" y="0"/>
                  </a:lnTo>
                  <a:lnTo>
                    <a:pt x="1686052" y="0"/>
                  </a:lnTo>
                  <a:lnTo>
                    <a:pt x="1686052" y="4826"/>
                  </a:lnTo>
                  <a:lnTo>
                    <a:pt x="1686052" y="0"/>
                  </a:lnTo>
                  <a:cubicBezTo>
                    <a:pt x="1688592" y="0"/>
                    <a:pt x="1691005" y="508"/>
                    <a:pt x="1693291" y="1397"/>
                  </a:cubicBezTo>
                  <a:cubicBezTo>
                    <a:pt x="1695577" y="2413"/>
                    <a:pt x="1697609" y="3683"/>
                    <a:pt x="1699387" y="5461"/>
                  </a:cubicBezTo>
                  <a:lnTo>
                    <a:pt x="1695958" y="8890"/>
                  </a:lnTo>
                  <a:lnTo>
                    <a:pt x="1699387" y="5461"/>
                  </a:lnTo>
                  <a:cubicBezTo>
                    <a:pt x="1701165" y="7239"/>
                    <a:pt x="1702562" y="9271"/>
                    <a:pt x="1703451" y="11557"/>
                  </a:cubicBezTo>
                  <a:cubicBezTo>
                    <a:pt x="1704467" y="13843"/>
                    <a:pt x="1704848" y="16256"/>
                    <a:pt x="1704848" y="18796"/>
                  </a:cubicBezTo>
                  <a:lnTo>
                    <a:pt x="1704848" y="266827"/>
                  </a:lnTo>
                  <a:cubicBezTo>
                    <a:pt x="1704848" y="269367"/>
                    <a:pt x="1704340" y="271780"/>
                    <a:pt x="1703451" y="274066"/>
                  </a:cubicBezTo>
                  <a:cubicBezTo>
                    <a:pt x="1702435" y="276352"/>
                    <a:pt x="1701165" y="278384"/>
                    <a:pt x="1699387" y="280162"/>
                  </a:cubicBezTo>
                  <a:cubicBezTo>
                    <a:pt x="1697609" y="281940"/>
                    <a:pt x="1695577" y="283337"/>
                    <a:pt x="1693291" y="284226"/>
                  </a:cubicBezTo>
                  <a:lnTo>
                    <a:pt x="1691513" y="279781"/>
                  </a:lnTo>
                  <a:lnTo>
                    <a:pt x="1693291" y="284226"/>
                  </a:lnTo>
                  <a:cubicBezTo>
                    <a:pt x="1691005" y="285242"/>
                    <a:pt x="1688592" y="285623"/>
                    <a:pt x="1686052" y="285623"/>
                  </a:cubicBezTo>
                  <a:lnTo>
                    <a:pt x="18923" y="285623"/>
                  </a:lnTo>
                  <a:cubicBezTo>
                    <a:pt x="16383" y="285623"/>
                    <a:pt x="13970" y="285115"/>
                    <a:pt x="11684" y="284226"/>
                  </a:cubicBezTo>
                  <a:lnTo>
                    <a:pt x="13462" y="279781"/>
                  </a:lnTo>
                  <a:lnTo>
                    <a:pt x="11684" y="284226"/>
                  </a:lnTo>
                  <a:cubicBezTo>
                    <a:pt x="9398" y="283210"/>
                    <a:pt x="7366" y="281940"/>
                    <a:pt x="5588" y="280162"/>
                  </a:cubicBezTo>
                  <a:cubicBezTo>
                    <a:pt x="3810" y="278384"/>
                    <a:pt x="2413" y="276352"/>
                    <a:pt x="1524" y="274066"/>
                  </a:cubicBezTo>
                  <a:lnTo>
                    <a:pt x="5969" y="272288"/>
                  </a:lnTo>
                  <a:lnTo>
                    <a:pt x="1524" y="274066"/>
                  </a:lnTo>
                  <a:cubicBezTo>
                    <a:pt x="508" y="271780"/>
                    <a:pt x="127" y="269367"/>
                    <a:pt x="127" y="266827"/>
                  </a:cubicBezTo>
                  <a:lnTo>
                    <a:pt x="4826" y="266827"/>
                  </a:lnTo>
                  <a:lnTo>
                    <a:pt x="0" y="266827"/>
                  </a:lnTo>
                  <a:moveTo>
                    <a:pt x="9525" y="266827"/>
                  </a:moveTo>
                  <a:cubicBezTo>
                    <a:pt x="9525" y="268097"/>
                    <a:pt x="9779" y="269240"/>
                    <a:pt x="10287" y="270383"/>
                  </a:cubicBezTo>
                  <a:cubicBezTo>
                    <a:pt x="10795" y="271526"/>
                    <a:pt x="11430" y="272542"/>
                    <a:pt x="12319" y="273431"/>
                  </a:cubicBezTo>
                  <a:lnTo>
                    <a:pt x="8890" y="276860"/>
                  </a:lnTo>
                  <a:lnTo>
                    <a:pt x="12319" y="273431"/>
                  </a:lnTo>
                  <a:cubicBezTo>
                    <a:pt x="13208" y="274320"/>
                    <a:pt x="14224" y="274955"/>
                    <a:pt x="15367" y="275463"/>
                  </a:cubicBezTo>
                  <a:cubicBezTo>
                    <a:pt x="16510" y="275971"/>
                    <a:pt x="17653" y="276225"/>
                    <a:pt x="18923" y="276225"/>
                  </a:cubicBezTo>
                  <a:lnTo>
                    <a:pt x="18923" y="280924"/>
                  </a:lnTo>
                  <a:lnTo>
                    <a:pt x="18923" y="276098"/>
                  </a:lnTo>
                  <a:lnTo>
                    <a:pt x="1686052" y="276098"/>
                  </a:lnTo>
                  <a:lnTo>
                    <a:pt x="1686052" y="280924"/>
                  </a:lnTo>
                  <a:lnTo>
                    <a:pt x="1686052" y="276225"/>
                  </a:lnTo>
                  <a:cubicBezTo>
                    <a:pt x="1687322" y="276225"/>
                    <a:pt x="1688465" y="275971"/>
                    <a:pt x="1689608" y="275463"/>
                  </a:cubicBezTo>
                  <a:cubicBezTo>
                    <a:pt x="1690751" y="274955"/>
                    <a:pt x="1691767" y="274320"/>
                    <a:pt x="1692656" y="273431"/>
                  </a:cubicBezTo>
                  <a:lnTo>
                    <a:pt x="1696085" y="276860"/>
                  </a:lnTo>
                  <a:lnTo>
                    <a:pt x="1692656" y="273431"/>
                  </a:lnTo>
                  <a:cubicBezTo>
                    <a:pt x="1693545" y="272542"/>
                    <a:pt x="1694180" y="271526"/>
                    <a:pt x="1694688" y="270383"/>
                  </a:cubicBezTo>
                  <a:lnTo>
                    <a:pt x="1699133" y="272161"/>
                  </a:lnTo>
                  <a:lnTo>
                    <a:pt x="1694688" y="270383"/>
                  </a:lnTo>
                  <a:cubicBezTo>
                    <a:pt x="1695196" y="269240"/>
                    <a:pt x="1695450" y="268097"/>
                    <a:pt x="1695450" y="266827"/>
                  </a:cubicBezTo>
                  <a:lnTo>
                    <a:pt x="1700149" y="266827"/>
                  </a:lnTo>
                  <a:lnTo>
                    <a:pt x="1695323" y="266827"/>
                  </a:lnTo>
                  <a:lnTo>
                    <a:pt x="1695323" y="18923"/>
                  </a:lnTo>
                  <a:lnTo>
                    <a:pt x="1700149" y="18923"/>
                  </a:lnTo>
                  <a:lnTo>
                    <a:pt x="1695450" y="18923"/>
                  </a:lnTo>
                  <a:cubicBezTo>
                    <a:pt x="1695450" y="17653"/>
                    <a:pt x="1695196" y="16510"/>
                    <a:pt x="1694688" y="15367"/>
                  </a:cubicBezTo>
                  <a:lnTo>
                    <a:pt x="1699133" y="13589"/>
                  </a:lnTo>
                  <a:lnTo>
                    <a:pt x="1694688" y="15367"/>
                  </a:lnTo>
                  <a:cubicBezTo>
                    <a:pt x="1694180" y="14224"/>
                    <a:pt x="1693545" y="13208"/>
                    <a:pt x="1692656" y="12319"/>
                  </a:cubicBezTo>
                  <a:cubicBezTo>
                    <a:pt x="1691767" y="11430"/>
                    <a:pt x="1690751" y="10795"/>
                    <a:pt x="1689608" y="10287"/>
                  </a:cubicBezTo>
                  <a:lnTo>
                    <a:pt x="1691386" y="5842"/>
                  </a:lnTo>
                  <a:lnTo>
                    <a:pt x="1689608" y="10287"/>
                  </a:lnTo>
                  <a:cubicBezTo>
                    <a:pt x="1688465" y="9779"/>
                    <a:pt x="1687322" y="9525"/>
                    <a:pt x="1686052" y="9525"/>
                  </a:cubicBezTo>
                  <a:lnTo>
                    <a:pt x="18923" y="9525"/>
                  </a:lnTo>
                  <a:cubicBezTo>
                    <a:pt x="17653" y="9525"/>
                    <a:pt x="16510" y="9779"/>
                    <a:pt x="15367" y="10287"/>
                  </a:cubicBezTo>
                  <a:lnTo>
                    <a:pt x="13589" y="5842"/>
                  </a:lnTo>
                  <a:lnTo>
                    <a:pt x="15367" y="10287"/>
                  </a:lnTo>
                  <a:cubicBezTo>
                    <a:pt x="14224" y="10795"/>
                    <a:pt x="13208" y="11430"/>
                    <a:pt x="12319" y="12319"/>
                  </a:cubicBezTo>
                  <a:cubicBezTo>
                    <a:pt x="11430" y="13208"/>
                    <a:pt x="10795" y="14224"/>
                    <a:pt x="10287" y="15367"/>
                  </a:cubicBezTo>
                  <a:cubicBezTo>
                    <a:pt x="9779" y="16510"/>
                    <a:pt x="9525" y="17653"/>
                    <a:pt x="9525" y="18923"/>
                  </a:cubicBezTo>
                  <a:lnTo>
                    <a:pt x="9525" y="266827"/>
                  </a:lnTo>
                  <a:close/>
                </a:path>
              </a:pathLst>
            </a:custGeom>
            <a:solidFill>
              <a:srgbClr val="66A8EE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1540" y="1830962"/>
            <a:ext cx="5905519" cy="1781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372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CargoFlow: Plataforma Digital para el Transporte Portuario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3985" y="3904459"/>
            <a:ext cx="47815" cy="26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1540" y="3866359"/>
            <a:ext cx="5996454" cy="60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Proyecto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Título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Capstone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Ingeniería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Informática,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Duoc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UC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San Joaquín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74944" y="4748555"/>
            <a:ext cx="2393956" cy="208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DESARROLLO MULTIPLATAFORMA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43288" y="4748555"/>
            <a:ext cx="1410348" cy="208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66A8EE"/>
                </a:solidFill>
                <a:latin typeface="Roboto"/>
                <a:ea typeface="Roboto"/>
                <a:cs typeface="Roboto"/>
                <a:sym typeface="Roboto"/>
              </a:rPr>
              <a:t>CLOUD COMPUTING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7367" y="4748555"/>
            <a:ext cx="1512503" cy="208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sz="1190">
                <a:solidFill>
                  <a:srgbClr val="66A8EE"/>
                </a:solidFill>
                <a:latin typeface="Roboto"/>
                <a:ea typeface="Roboto"/>
                <a:cs typeface="Roboto"/>
                <a:sym typeface="Roboto"/>
              </a:rPr>
              <a:t>ANALÍTICA DE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2" y="0"/>
            <a:ext cx="12193524" cy="6858000"/>
          </a:xfrm>
          <a:custGeom>
            <a:avLst/>
            <a:gdLst/>
            <a:ahLst/>
            <a:cxnLst/>
            <a:rect r="r" b="b" t="t" l="l"/>
            <a:pathLst>
              <a:path h="6858000" w="12193524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10" y="4572"/>
            <a:ext cx="12184380" cy="6848856"/>
          </a:xfrm>
          <a:custGeom>
            <a:avLst/>
            <a:gdLst/>
            <a:ahLst/>
            <a:cxnLst/>
            <a:rect r="r" b="b" t="t" l="l"/>
            <a:pathLst>
              <a:path h="6848856" w="12184380">
                <a:moveTo>
                  <a:pt x="0" y="0"/>
                </a:moveTo>
                <a:lnTo>
                  <a:pt x="12184380" y="0"/>
                </a:lnTo>
                <a:lnTo>
                  <a:pt x="12184380" y="6848856"/>
                </a:lnTo>
                <a:lnTo>
                  <a:pt x="0" y="6848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62" y="0"/>
            <a:ext cx="12193524" cy="6858000"/>
          </a:xfrm>
          <a:custGeom>
            <a:avLst/>
            <a:gdLst/>
            <a:ahLst/>
            <a:cxnLst/>
            <a:rect r="r" b="b" t="t" l="l"/>
            <a:pathLst>
              <a:path h="6858000" w="12193524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6935" y="2712720"/>
            <a:ext cx="5404104" cy="1794510"/>
          </a:xfrm>
          <a:custGeom>
            <a:avLst/>
            <a:gdLst/>
            <a:ahLst/>
            <a:cxnLst/>
            <a:rect r="r" b="b" t="t" l="l"/>
            <a:pathLst>
              <a:path h="1794510" w="5404104">
                <a:moveTo>
                  <a:pt x="0" y="0"/>
                </a:moveTo>
                <a:lnTo>
                  <a:pt x="5404105" y="0"/>
                </a:lnTo>
                <a:lnTo>
                  <a:pt x="5404105" y="1794510"/>
                </a:lnTo>
                <a:lnTo>
                  <a:pt x="0" y="17945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160960" y="2712720"/>
            <a:ext cx="5404104" cy="1794510"/>
          </a:xfrm>
          <a:custGeom>
            <a:avLst/>
            <a:gdLst/>
            <a:ahLst/>
            <a:cxnLst/>
            <a:rect r="r" b="b" t="t" l="l"/>
            <a:pathLst>
              <a:path h="1794510" w="5404104">
                <a:moveTo>
                  <a:pt x="0" y="0"/>
                </a:moveTo>
                <a:lnTo>
                  <a:pt x="5404104" y="0"/>
                </a:lnTo>
                <a:lnTo>
                  <a:pt x="5404104" y="1794510"/>
                </a:lnTo>
                <a:lnTo>
                  <a:pt x="0" y="17945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6935" y="4636389"/>
            <a:ext cx="5404104" cy="1490472"/>
          </a:xfrm>
          <a:custGeom>
            <a:avLst/>
            <a:gdLst/>
            <a:ahLst/>
            <a:cxnLst/>
            <a:rect r="r" b="b" t="t" l="l"/>
            <a:pathLst>
              <a:path h="1490472" w="5404104">
                <a:moveTo>
                  <a:pt x="0" y="0"/>
                </a:moveTo>
                <a:lnTo>
                  <a:pt x="5404105" y="0"/>
                </a:lnTo>
                <a:lnTo>
                  <a:pt x="5404105" y="1490472"/>
                </a:lnTo>
                <a:lnTo>
                  <a:pt x="0" y="14904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60960" y="4636389"/>
            <a:ext cx="5404104" cy="1490472"/>
          </a:xfrm>
          <a:custGeom>
            <a:avLst/>
            <a:gdLst/>
            <a:ahLst/>
            <a:cxnLst/>
            <a:rect r="r" b="b" t="t" l="l"/>
            <a:pathLst>
              <a:path h="1490472" w="5404104">
                <a:moveTo>
                  <a:pt x="0" y="0"/>
                </a:moveTo>
                <a:lnTo>
                  <a:pt x="5404104" y="0"/>
                </a:lnTo>
                <a:lnTo>
                  <a:pt x="5404104" y="1490472"/>
                </a:lnTo>
                <a:lnTo>
                  <a:pt x="0" y="149047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56463" y="2742438"/>
            <a:ext cx="77724" cy="1735074"/>
          </a:xfrm>
          <a:custGeom>
            <a:avLst/>
            <a:gdLst/>
            <a:ahLst/>
            <a:cxnLst/>
            <a:rect r="r" b="b" t="t" l="l"/>
            <a:pathLst>
              <a:path h="1735074" w="77724">
                <a:moveTo>
                  <a:pt x="0" y="0"/>
                </a:moveTo>
                <a:lnTo>
                  <a:pt x="77724" y="0"/>
                </a:lnTo>
                <a:lnTo>
                  <a:pt x="77724" y="1735074"/>
                </a:lnTo>
                <a:lnTo>
                  <a:pt x="0" y="17350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190488" y="2742438"/>
            <a:ext cx="77724" cy="1735074"/>
          </a:xfrm>
          <a:custGeom>
            <a:avLst/>
            <a:gdLst/>
            <a:ahLst/>
            <a:cxnLst/>
            <a:rect r="r" b="b" t="t" l="l"/>
            <a:pathLst>
              <a:path h="1735074" w="77724">
                <a:moveTo>
                  <a:pt x="0" y="0"/>
                </a:moveTo>
                <a:lnTo>
                  <a:pt x="77724" y="0"/>
                </a:lnTo>
                <a:lnTo>
                  <a:pt x="77724" y="1735074"/>
                </a:lnTo>
                <a:lnTo>
                  <a:pt x="0" y="173507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56463" y="4667250"/>
            <a:ext cx="77724" cy="1428750"/>
            <a:chOff x="0" y="0"/>
            <a:chExt cx="103632" cy="1905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32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3632">
                  <a:moveTo>
                    <a:pt x="0" y="0"/>
                  </a:moveTo>
                  <a:lnTo>
                    <a:pt x="103632" y="0"/>
                  </a:lnTo>
                  <a:lnTo>
                    <a:pt x="10363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190488" y="4667250"/>
            <a:ext cx="77724" cy="1428750"/>
            <a:chOff x="0" y="0"/>
            <a:chExt cx="103632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3632" cy="1905000"/>
            </a:xfrm>
            <a:custGeom>
              <a:avLst/>
              <a:gdLst/>
              <a:ahLst/>
              <a:cxnLst/>
              <a:rect r="r" b="b" t="t" l="l"/>
              <a:pathLst>
                <a:path h="1905000" w="103632">
                  <a:moveTo>
                    <a:pt x="0" y="0"/>
                  </a:moveTo>
                  <a:lnTo>
                    <a:pt x="103632" y="0"/>
                  </a:lnTo>
                  <a:lnTo>
                    <a:pt x="103632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661540" y="745112"/>
            <a:ext cx="9136532" cy="119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0"/>
              </a:lnSpc>
            </a:pPr>
            <a:r>
              <a:rPr lang="en-US" sz="372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La Problemática: Operación Informal en Carretera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5984" y="2228059"/>
            <a:ext cx="47815" cy="26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5804" y="5237959"/>
            <a:ext cx="4758766" cy="60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Desconocimiento de tiempos reales de viaje y demoras en bodegas portuarias.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5804" y="3323434"/>
            <a:ext cx="4914976" cy="60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Asignación de fletes por WhatsApp y llamadas, propensa a errores y sin respaldo formal.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74771" y="5237959"/>
            <a:ext cx="4530604" cy="60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Dificultad para liquidar y respaldar cobros de fletes y estadías.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74771" y="3332959"/>
            <a:ext cx="4574019" cy="892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9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Camiones rechazados en STI, DP World y TPS por revisiones o seguros caducados, generando multas y pérdida de turnos.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1540" y="2228059"/>
            <a:ext cx="11083233" cy="26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Ladesconexiónentreterminalesportuariosyeltransporteterrestregeneraineficienciascríticasypérdidaseconómicas evitables.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5804" y="4839833"/>
            <a:ext cx="3351876" cy="3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Sin Visibilidad para el Cliente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5804" y="2915783"/>
            <a:ext cx="3699958" cy="3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Gestión Manual sin Trazabilidad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74771" y="4839833"/>
            <a:ext cx="3064145" cy="3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Sobrecarga Administrativa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74771" y="2915783"/>
            <a:ext cx="4106732" cy="3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Documentación Vencida en Accesos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62" y="0"/>
            <a:ext cx="12193524" cy="6858000"/>
          </a:xfrm>
          <a:custGeom>
            <a:avLst/>
            <a:gdLst/>
            <a:ahLst/>
            <a:cxnLst/>
            <a:rect r="r" b="b" t="t" l="l"/>
            <a:pathLst>
              <a:path h="6858000" w="12193524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10" y="4572"/>
            <a:ext cx="12184380" cy="6848856"/>
          </a:xfrm>
          <a:custGeom>
            <a:avLst/>
            <a:gdLst/>
            <a:ahLst/>
            <a:cxnLst/>
            <a:rect r="r" b="b" t="t" l="l"/>
            <a:pathLst>
              <a:path h="6848856" w="12184380">
                <a:moveTo>
                  <a:pt x="0" y="0"/>
                </a:moveTo>
                <a:lnTo>
                  <a:pt x="12184380" y="0"/>
                </a:lnTo>
                <a:lnTo>
                  <a:pt x="12184380" y="6848856"/>
                </a:lnTo>
                <a:lnTo>
                  <a:pt x="0" y="6848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62" y="0"/>
            <a:ext cx="12193524" cy="6858000"/>
          </a:xfrm>
          <a:custGeom>
            <a:avLst/>
            <a:gdLst/>
            <a:ahLst/>
            <a:cxnLst/>
            <a:rect r="r" b="b" t="t" l="l"/>
            <a:pathLst>
              <a:path h="6858000" w="12193524">
                <a:moveTo>
                  <a:pt x="0" y="0"/>
                </a:moveTo>
                <a:lnTo>
                  <a:pt x="12193524" y="0"/>
                </a:lnTo>
                <a:lnTo>
                  <a:pt x="1219352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56844" y="2018348"/>
            <a:ext cx="5353812" cy="2011680"/>
          </a:xfrm>
          <a:custGeom>
            <a:avLst/>
            <a:gdLst/>
            <a:ahLst/>
            <a:cxnLst/>
            <a:rect r="r" b="b" t="t" l="l"/>
            <a:pathLst>
              <a:path h="2011680" w="5353812">
                <a:moveTo>
                  <a:pt x="0" y="0"/>
                </a:moveTo>
                <a:lnTo>
                  <a:pt x="5353812" y="0"/>
                </a:lnTo>
                <a:lnTo>
                  <a:pt x="5353812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37628" y="2199513"/>
            <a:ext cx="544068" cy="534924"/>
            <a:chOff x="0" y="0"/>
            <a:chExt cx="725424" cy="7132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5424" cy="713232"/>
            </a:xfrm>
            <a:custGeom>
              <a:avLst/>
              <a:gdLst/>
              <a:ahLst/>
              <a:cxnLst/>
              <a:rect r="r" b="b" t="t" l="l"/>
              <a:pathLst>
                <a:path h="713232" w="725424">
                  <a:moveTo>
                    <a:pt x="0" y="0"/>
                  </a:moveTo>
                  <a:lnTo>
                    <a:pt x="725424" y="0"/>
                  </a:lnTo>
                  <a:lnTo>
                    <a:pt x="725424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40762" y="2336997"/>
            <a:ext cx="34290" cy="16002"/>
          </a:xfrm>
          <a:custGeom>
            <a:avLst/>
            <a:gdLst/>
            <a:ahLst/>
            <a:cxnLst/>
            <a:rect r="r" b="b" t="t" l="l"/>
            <a:pathLst>
              <a:path h="16002" w="34290">
                <a:moveTo>
                  <a:pt x="0" y="0"/>
                </a:moveTo>
                <a:lnTo>
                  <a:pt x="34290" y="0"/>
                </a:lnTo>
                <a:lnTo>
                  <a:pt x="34290" y="16002"/>
                </a:lnTo>
                <a:lnTo>
                  <a:pt x="0" y="160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5996" y="2337892"/>
            <a:ext cx="36576" cy="43434"/>
          </a:xfrm>
          <a:custGeom>
            <a:avLst/>
            <a:gdLst/>
            <a:ahLst/>
            <a:cxnLst/>
            <a:rect r="r" b="b" t="t" l="l"/>
            <a:pathLst>
              <a:path h="43434" w="36576">
                <a:moveTo>
                  <a:pt x="0" y="0"/>
                </a:moveTo>
                <a:lnTo>
                  <a:pt x="36576" y="0"/>
                </a:lnTo>
                <a:lnTo>
                  <a:pt x="36576" y="43434"/>
                </a:lnTo>
                <a:lnTo>
                  <a:pt x="0" y="434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5958" y="2552957"/>
            <a:ext cx="45720" cy="38862"/>
          </a:xfrm>
          <a:custGeom>
            <a:avLst/>
            <a:gdLst/>
            <a:ahLst/>
            <a:cxnLst/>
            <a:rect r="r" b="b" t="t" l="l"/>
            <a:pathLst>
              <a:path h="38862" w="45720">
                <a:moveTo>
                  <a:pt x="0" y="0"/>
                </a:moveTo>
                <a:lnTo>
                  <a:pt x="45720" y="0"/>
                </a:lnTo>
                <a:lnTo>
                  <a:pt x="45720" y="38862"/>
                </a:lnTo>
                <a:lnTo>
                  <a:pt x="0" y="3886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48505" y="2547604"/>
            <a:ext cx="38862" cy="43434"/>
          </a:xfrm>
          <a:custGeom>
            <a:avLst/>
            <a:gdLst/>
            <a:ahLst/>
            <a:cxnLst/>
            <a:rect r="r" b="b" t="t" l="l"/>
            <a:pathLst>
              <a:path h="43434" w="38862">
                <a:moveTo>
                  <a:pt x="0" y="0"/>
                </a:moveTo>
                <a:lnTo>
                  <a:pt x="38862" y="0"/>
                </a:lnTo>
                <a:lnTo>
                  <a:pt x="38862" y="43434"/>
                </a:lnTo>
                <a:lnTo>
                  <a:pt x="0" y="4343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82411" y="2368296"/>
            <a:ext cx="57150" cy="11430"/>
          </a:xfrm>
          <a:custGeom>
            <a:avLst/>
            <a:gdLst/>
            <a:ahLst/>
            <a:cxnLst/>
            <a:rect r="r" b="b" t="t" l="l"/>
            <a:pathLst>
              <a:path h="11430" w="57150">
                <a:moveTo>
                  <a:pt x="0" y="0"/>
                </a:moveTo>
                <a:lnTo>
                  <a:pt x="57150" y="0"/>
                </a:lnTo>
                <a:lnTo>
                  <a:pt x="5715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36682" y="2370430"/>
            <a:ext cx="11430" cy="194310"/>
          </a:xfrm>
          <a:custGeom>
            <a:avLst/>
            <a:gdLst/>
            <a:ahLst/>
            <a:cxnLst/>
            <a:rect r="r" b="b" t="t" l="l"/>
            <a:pathLst>
              <a:path h="194310" w="11430">
                <a:moveTo>
                  <a:pt x="0" y="0"/>
                </a:moveTo>
                <a:lnTo>
                  <a:pt x="11430" y="0"/>
                </a:lnTo>
                <a:lnTo>
                  <a:pt x="11430" y="194310"/>
                </a:lnTo>
                <a:lnTo>
                  <a:pt x="0" y="19431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9305" y="2579722"/>
            <a:ext cx="91440" cy="11430"/>
          </a:xfrm>
          <a:custGeom>
            <a:avLst/>
            <a:gdLst/>
            <a:ahLst/>
            <a:cxnLst/>
            <a:rect r="r" b="b" t="t" l="l"/>
            <a:pathLst>
              <a:path h="11430" w="91440">
                <a:moveTo>
                  <a:pt x="0" y="0"/>
                </a:moveTo>
                <a:lnTo>
                  <a:pt x="91440" y="0"/>
                </a:lnTo>
                <a:lnTo>
                  <a:pt x="9144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60790" y="2337559"/>
            <a:ext cx="91440" cy="11430"/>
          </a:xfrm>
          <a:custGeom>
            <a:avLst/>
            <a:gdLst/>
            <a:ahLst/>
            <a:cxnLst/>
            <a:rect r="r" b="b" t="t" l="l"/>
            <a:pathLst>
              <a:path h="11430" w="91440">
                <a:moveTo>
                  <a:pt x="0" y="0"/>
                </a:moveTo>
                <a:lnTo>
                  <a:pt x="91440" y="0"/>
                </a:lnTo>
                <a:lnTo>
                  <a:pt x="9144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5347" y="2362448"/>
            <a:ext cx="11430" cy="196596"/>
          </a:xfrm>
          <a:custGeom>
            <a:avLst/>
            <a:gdLst/>
            <a:ahLst/>
            <a:cxnLst/>
            <a:rect r="r" b="b" t="t" l="l"/>
            <a:pathLst>
              <a:path h="196596" w="11430">
                <a:moveTo>
                  <a:pt x="0" y="0"/>
                </a:moveTo>
                <a:lnTo>
                  <a:pt x="11430" y="0"/>
                </a:lnTo>
                <a:lnTo>
                  <a:pt x="11430" y="196596"/>
                </a:lnTo>
                <a:lnTo>
                  <a:pt x="0" y="19659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62460" y="2340445"/>
            <a:ext cx="25146" cy="34290"/>
          </a:xfrm>
          <a:custGeom>
            <a:avLst/>
            <a:gdLst/>
            <a:ahLst/>
            <a:cxnLst/>
            <a:rect r="r" b="b" t="t" l="l"/>
            <a:pathLst>
              <a:path h="34290" w="25146">
                <a:moveTo>
                  <a:pt x="0" y="0"/>
                </a:moveTo>
                <a:lnTo>
                  <a:pt x="25146" y="0"/>
                </a:lnTo>
                <a:lnTo>
                  <a:pt x="25146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181344" y="2018348"/>
            <a:ext cx="5353812" cy="2011680"/>
          </a:xfrm>
          <a:custGeom>
            <a:avLst/>
            <a:gdLst/>
            <a:ahLst/>
            <a:cxnLst/>
            <a:rect r="r" b="b" t="t" l="l"/>
            <a:pathLst>
              <a:path h="2011680" w="5353812">
                <a:moveTo>
                  <a:pt x="0" y="0"/>
                </a:moveTo>
                <a:lnTo>
                  <a:pt x="5353812" y="0"/>
                </a:lnTo>
                <a:lnTo>
                  <a:pt x="5353812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361938" y="2199513"/>
            <a:ext cx="534924" cy="534924"/>
            <a:chOff x="0" y="0"/>
            <a:chExt cx="713232" cy="71323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3232" cy="713232"/>
            </a:xfrm>
            <a:custGeom>
              <a:avLst/>
              <a:gdLst/>
              <a:ahLst/>
              <a:cxnLst/>
              <a:rect r="r" b="b" t="t" l="l"/>
              <a:pathLst>
                <a:path h="713232" w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557582" y="2444077"/>
            <a:ext cx="105156" cy="11430"/>
          </a:xfrm>
          <a:custGeom>
            <a:avLst/>
            <a:gdLst/>
            <a:ahLst/>
            <a:cxnLst/>
            <a:rect r="r" b="b" t="t" l="l"/>
            <a:pathLst>
              <a:path h="11430" w="105156">
                <a:moveTo>
                  <a:pt x="0" y="0"/>
                </a:moveTo>
                <a:lnTo>
                  <a:pt x="105156" y="0"/>
                </a:lnTo>
                <a:lnTo>
                  <a:pt x="10515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557839" y="2491778"/>
            <a:ext cx="59436" cy="11430"/>
          </a:xfrm>
          <a:custGeom>
            <a:avLst/>
            <a:gdLst/>
            <a:ahLst/>
            <a:cxnLst/>
            <a:rect r="r" b="b" t="t" l="l"/>
            <a:pathLst>
              <a:path h="11430" w="59436">
                <a:moveTo>
                  <a:pt x="0" y="0"/>
                </a:moveTo>
                <a:lnTo>
                  <a:pt x="59436" y="0"/>
                </a:lnTo>
                <a:lnTo>
                  <a:pt x="5943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557305" y="2392232"/>
            <a:ext cx="123444" cy="11430"/>
          </a:xfrm>
          <a:custGeom>
            <a:avLst/>
            <a:gdLst/>
            <a:ahLst/>
            <a:cxnLst/>
            <a:rect r="r" b="b" t="t" l="l"/>
            <a:pathLst>
              <a:path h="11430" w="123444">
                <a:moveTo>
                  <a:pt x="0" y="0"/>
                </a:moveTo>
                <a:lnTo>
                  <a:pt x="123444" y="0"/>
                </a:lnTo>
                <a:lnTo>
                  <a:pt x="123444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510137" y="2337425"/>
            <a:ext cx="233172" cy="253746"/>
          </a:xfrm>
          <a:custGeom>
            <a:avLst/>
            <a:gdLst/>
            <a:ahLst/>
            <a:cxnLst/>
            <a:rect r="r" b="b" t="t" l="l"/>
            <a:pathLst>
              <a:path h="253746" w="233172">
                <a:moveTo>
                  <a:pt x="0" y="0"/>
                </a:moveTo>
                <a:lnTo>
                  <a:pt x="233172" y="0"/>
                </a:lnTo>
                <a:lnTo>
                  <a:pt x="233172" y="253746"/>
                </a:lnTo>
                <a:lnTo>
                  <a:pt x="0" y="253746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511900" y="2566245"/>
            <a:ext cx="11430" cy="13716"/>
          </a:xfrm>
          <a:custGeom>
            <a:avLst/>
            <a:gdLst/>
            <a:ahLst/>
            <a:cxnLst/>
            <a:rect r="r" b="b" t="t" l="l"/>
            <a:pathLst>
              <a:path h="13716" w="11430">
                <a:moveTo>
                  <a:pt x="0" y="0"/>
                </a:moveTo>
                <a:lnTo>
                  <a:pt x="11430" y="0"/>
                </a:lnTo>
                <a:lnTo>
                  <a:pt x="11430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511623" y="2567759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512214" y="2568159"/>
            <a:ext cx="11430" cy="11430"/>
          </a:xfrm>
          <a:custGeom>
            <a:avLst/>
            <a:gdLst/>
            <a:ahLst/>
            <a:cxnLst/>
            <a:rect r="r" b="b" t="t" l="l"/>
            <a:pathLst>
              <a:path h="11430" w="11430">
                <a:moveTo>
                  <a:pt x="0" y="0"/>
                </a:moveTo>
                <a:lnTo>
                  <a:pt x="11430" y="0"/>
                </a:lnTo>
                <a:lnTo>
                  <a:pt x="11430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45">
              <a:extLst>
                <a:ext uri="{96DAC541-7B7A-43D3-8B79-37D633B846F1}">
                  <asvg:svgBlip xmlns:asvg="http://schemas.microsoft.com/office/drawing/2016/SVG/main" r:embed="rId4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56844" y="4199572"/>
            <a:ext cx="5353812" cy="2011680"/>
          </a:xfrm>
          <a:custGeom>
            <a:avLst/>
            <a:gdLst/>
            <a:ahLst/>
            <a:cxnLst/>
            <a:rect r="r" b="b" t="t" l="l"/>
            <a:pathLst>
              <a:path h="2011680" w="5353812">
                <a:moveTo>
                  <a:pt x="0" y="0"/>
                </a:moveTo>
                <a:lnTo>
                  <a:pt x="5353812" y="0"/>
                </a:lnTo>
                <a:lnTo>
                  <a:pt x="5353812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837628" y="4380738"/>
            <a:ext cx="544068" cy="534924"/>
            <a:chOff x="0" y="0"/>
            <a:chExt cx="725424" cy="7132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5424" cy="713232"/>
            </a:xfrm>
            <a:custGeom>
              <a:avLst/>
              <a:gdLst/>
              <a:ahLst/>
              <a:cxnLst/>
              <a:rect r="r" b="b" t="t" l="l"/>
              <a:pathLst>
                <a:path h="713232" w="725424">
                  <a:moveTo>
                    <a:pt x="0" y="0"/>
                  </a:moveTo>
                  <a:lnTo>
                    <a:pt x="725424" y="0"/>
                  </a:lnTo>
                  <a:lnTo>
                    <a:pt x="725424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145086" y="4534910"/>
            <a:ext cx="93726" cy="48006"/>
          </a:xfrm>
          <a:custGeom>
            <a:avLst/>
            <a:gdLst/>
            <a:ahLst/>
            <a:cxnLst/>
            <a:rect r="r" b="b" t="t" l="l"/>
            <a:pathLst>
              <a:path h="48006" w="93726">
                <a:moveTo>
                  <a:pt x="0" y="0"/>
                </a:moveTo>
                <a:lnTo>
                  <a:pt x="93726" y="0"/>
                </a:lnTo>
                <a:lnTo>
                  <a:pt x="93726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226915" y="4536253"/>
            <a:ext cx="11430" cy="34290"/>
          </a:xfrm>
          <a:custGeom>
            <a:avLst/>
            <a:gdLst/>
            <a:ahLst/>
            <a:cxnLst/>
            <a:rect r="r" b="b" t="t" l="l"/>
            <a:pathLst>
              <a:path h="34290" w="11430">
                <a:moveTo>
                  <a:pt x="0" y="0"/>
                </a:moveTo>
                <a:lnTo>
                  <a:pt x="11430" y="0"/>
                </a:lnTo>
                <a:lnTo>
                  <a:pt x="11430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 r:embed="rId52">
              <a:extLst>
                <a:ext uri="{96DAC541-7B7A-43D3-8B79-37D633B846F1}">
                  <asvg:svgBlip xmlns:asvg="http://schemas.microsoft.com/office/drawing/2016/SVG/main" r:embed="rId5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03989" y="4704340"/>
            <a:ext cx="34290" cy="27432"/>
          </a:xfrm>
          <a:custGeom>
            <a:avLst/>
            <a:gdLst/>
            <a:ahLst/>
            <a:cxnLst/>
            <a:rect r="r" b="b" t="t" l="l"/>
            <a:pathLst>
              <a:path h="27432" w="34290">
                <a:moveTo>
                  <a:pt x="0" y="0"/>
                </a:moveTo>
                <a:lnTo>
                  <a:pt x="34290" y="0"/>
                </a:lnTo>
                <a:lnTo>
                  <a:pt x="34290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45848" y="4731982"/>
            <a:ext cx="43434" cy="25146"/>
          </a:xfrm>
          <a:custGeom>
            <a:avLst/>
            <a:gdLst/>
            <a:ahLst/>
            <a:cxnLst/>
            <a:rect r="r" b="b" t="t" l="l"/>
            <a:pathLst>
              <a:path h="25146" w="43434">
                <a:moveTo>
                  <a:pt x="0" y="0"/>
                </a:moveTo>
                <a:lnTo>
                  <a:pt x="43434" y="0"/>
                </a:lnTo>
                <a:lnTo>
                  <a:pt x="43434" y="25146"/>
                </a:lnTo>
                <a:lnTo>
                  <a:pt x="0" y="25146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057332" y="4534348"/>
            <a:ext cx="100584" cy="48006"/>
          </a:xfrm>
          <a:custGeom>
            <a:avLst/>
            <a:gdLst/>
            <a:ahLst/>
            <a:cxnLst/>
            <a:rect r="r" b="b" t="t" l="l"/>
            <a:pathLst>
              <a:path h="48006" w="100584">
                <a:moveTo>
                  <a:pt x="0" y="0"/>
                </a:moveTo>
                <a:lnTo>
                  <a:pt x="100584" y="0"/>
                </a:lnTo>
                <a:lnTo>
                  <a:pt x="100584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145715" y="4571248"/>
            <a:ext cx="11430" cy="185166"/>
          </a:xfrm>
          <a:custGeom>
            <a:avLst/>
            <a:gdLst/>
            <a:ahLst/>
            <a:cxnLst/>
            <a:rect r="r" b="b" t="t" l="l"/>
            <a:pathLst>
              <a:path h="185166" w="11430">
                <a:moveTo>
                  <a:pt x="0" y="0"/>
                </a:moveTo>
                <a:lnTo>
                  <a:pt x="11430" y="0"/>
                </a:lnTo>
                <a:lnTo>
                  <a:pt x="11430" y="185166"/>
                </a:lnTo>
                <a:lnTo>
                  <a:pt x="0" y="185166"/>
                </a:lnTo>
                <a:lnTo>
                  <a:pt x="0" y="0"/>
                </a:lnTo>
                <a:close/>
              </a:path>
            </a:pathLst>
          </a:custGeom>
          <a:blipFill>
            <a:blip r:embed="rId60">
              <a:extLst>
                <a:ext uri="{96DAC541-7B7A-43D3-8B79-37D633B846F1}">
                  <asvg:svgBlip xmlns:asvg="http://schemas.microsoft.com/office/drawing/2016/SVG/main" r:embed="rId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57227" y="4709246"/>
            <a:ext cx="100584" cy="48006"/>
          </a:xfrm>
          <a:custGeom>
            <a:avLst/>
            <a:gdLst/>
            <a:ahLst/>
            <a:cxnLst/>
            <a:rect r="r" b="b" t="t" l="l"/>
            <a:pathLst>
              <a:path h="48006" w="100584">
                <a:moveTo>
                  <a:pt x="0" y="0"/>
                </a:moveTo>
                <a:lnTo>
                  <a:pt x="100584" y="0"/>
                </a:lnTo>
                <a:lnTo>
                  <a:pt x="100584" y="48006"/>
                </a:lnTo>
                <a:lnTo>
                  <a:pt x="0" y="48006"/>
                </a:lnTo>
                <a:lnTo>
                  <a:pt x="0" y="0"/>
                </a:lnTo>
                <a:close/>
              </a:path>
            </a:pathLst>
          </a:custGeom>
          <a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057999" y="4533690"/>
            <a:ext cx="11430" cy="187452"/>
          </a:xfrm>
          <a:custGeom>
            <a:avLst/>
            <a:gdLst/>
            <a:ahLst/>
            <a:cxnLst/>
            <a:rect r="r" b="b" t="t" l="l"/>
            <a:pathLst>
              <a:path h="187452" w="11430">
                <a:moveTo>
                  <a:pt x="0" y="0"/>
                </a:moveTo>
                <a:lnTo>
                  <a:pt x="11430" y="0"/>
                </a:lnTo>
                <a:lnTo>
                  <a:pt x="11430" y="187452"/>
                </a:lnTo>
                <a:lnTo>
                  <a:pt x="0" y="187452"/>
                </a:lnTo>
                <a:lnTo>
                  <a:pt x="0" y="0"/>
                </a:lnTo>
                <a:close/>
              </a:path>
            </a:pathLst>
          </a:custGeom>
          <a:blipFill>
            <a:blip r:embed="rId64">
              <a:extLst>
                <a:ext uri="{96DAC541-7B7A-43D3-8B79-37D633B846F1}">
                  <asvg:svgBlip xmlns:asvg="http://schemas.microsoft.com/office/drawing/2016/SVG/main" r:embed="rId6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84895" y="4533757"/>
            <a:ext cx="84582" cy="43434"/>
          </a:xfrm>
          <a:custGeom>
            <a:avLst/>
            <a:gdLst/>
            <a:ahLst/>
            <a:cxnLst/>
            <a:rect r="r" b="b" t="t" l="l"/>
            <a:pathLst>
              <a:path h="43434" w="84582">
                <a:moveTo>
                  <a:pt x="0" y="0"/>
                </a:moveTo>
                <a:lnTo>
                  <a:pt x="84582" y="0"/>
                </a:lnTo>
                <a:lnTo>
                  <a:pt x="84582" y="43434"/>
                </a:lnTo>
                <a:lnTo>
                  <a:pt x="0" y="43434"/>
                </a:lnTo>
                <a:lnTo>
                  <a:pt x="0" y="0"/>
                </a:lnTo>
                <a:close/>
              </a:path>
            </a:pathLst>
          </a:custGeom>
          <a:blipFill>
            <a:blip r:embed="rId66">
              <a:extLst>
                <a:ext uri="{96DAC541-7B7A-43D3-8B79-37D633B846F1}">
                  <asvg:svgBlip xmlns:asvg="http://schemas.microsoft.com/office/drawing/2016/SVG/main" r:embed="rId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84475" y="4708827"/>
            <a:ext cx="84582" cy="45720"/>
          </a:xfrm>
          <a:custGeom>
            <a:avLst/>
            <a:gdLst/>
            <a:ahLst/>
            <a:cxnLst/>
            <a:rect r="r" b="b" t="t" l="l"/>
            <a:pathLst>
              <a:path h="45720" w="84582">
                <a:moveTo>
                  <a:pt x="0" y="0"/>
                </a:moveTo>
                <a:lnTo>
                  <a:pt x="84582" y="0"/>
                </a:lnTo>
                <a:lnTo>
                  <a:pt x="84582" y="45720"/>
                </a:lnTo>
                <a:lnTo>
                  <a:pt x="0" y="45720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984914" y="4564685"/>
            <a:ext cx="11430" cy="189738"/>
          </a:xfrm>
          <a:custGeom>
            <a:avLst/>
            <a:gdLst/>
            <a:ahLst/>
            <a:cxnLst/>
            <a:rect r="r" b="b" t="t" l="l"/>
            <a:pathLst>
              <a:path h="189738" w="11430">
                <a:moveTo>
                  <a:pt x="0" y="0"/>
                </a:moveTo>
                <a:lnTo>
                  <a:pt x="11430" y="0"/>
                </a:lnTo>
                <a:lnTo>
                  <a:pt x="11430" y="189738"/>
                </a:lnTo>
                <a:lnTo>
                  <a:pt x="0" y="189738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227144" y="4558217"/>
            <a:ext cx="11430" cy="157734"/>
          </a:xfrm>
          <a:custGeom>
            <a:avLst/>
            <a:gdLst/>
            <a:ahLst/>
            <a:cxnLst/>
            <a:rect r="r" b="b" t="t" l="l"/>
            <a:pathLst>
              <a:path h="157734" w="11430">
                <a:moveTo>
                  <a:pt x="0" y="0"/>
                </a:moveTo>
                <a:lnTo>
                  <a:pt x="11430" y="0"/>
                </a:lnTo>
                <a:lnTo>
                  <a:pt x="11430" y="157734"/>
                </a:lnTo>
                <a:lnTo>
                  <a:pt x="0" y="157734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178338" y="4720723"/>
            <a:ext cx="36576" cy="22860"/>
          </a:xfrm>
          <a:custGeom>
            <a:avLst/>
            <a:gdLst/>
            <a:ahLst/>
            <a:cxnLst/>
            <a:rect r="r" b="b" t="t" l="l"/>
            <a:pathLst>
              <a:path h="22860" w="36576">
                <a:moveTo>
                  <a:pt x="0" y="0"/>
                </a:moveTo>
                <a:lnTo>
                  <a:pt x="36576" y="0"/>
                </a:lnTo>
                <a:lnTo>
                  <a:pt x="36576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6181344" y="4199572"/>
            <a:ext cx="5353812" cy="2011680"/>
          </a:xfrm>
          <a:custGeom>
            <a:avLst/>
            <a:gdLst/>
            <a:ahLst/>
            <a:cxnLst/>
            <a:rect r="r" b="b" t="t" l="l"/>
            <a:pathLst>
              <a:path h="2011680" w="5353812">
                <a:moveTo>
                  <a:pt x="0" y="0"/>
                </a:moveTo>
                <a:lnTo>
                  <a:pt x="5353812" y="0"/>
                </a:lnTo>
                <a:lnTo>
                  <a:pt x="5353812" y="2011680"/>
                </a:lnTo>
                <a:lnTo>
                  <a:pt x="0" y="2011680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7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6361938" y="4380738"/>
            <a:ext cx="534924" cy="534924"/>
            <a:chOff x="0" y="0"/>
            <a:chExt cx="713232" cy="7132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3232" cy="713232"/>
            </a:xfrm>
            <a:custGeom>
              <a:avLst/>
              <a:gdLst/>
              <a:ahLst/>
              <a:cxnLst/>
              <a:rect r="r" b="b" t="t" l="l"/>
              <a:pathLst>
                <a:path h="713232" w="713232">
                  <a:moveTo>
                    <a:pt x="0" y="0"/>
                  </a:moveTo>
                  <a:lnTo>
                    <a:pt x="713232" y="0"/>
                  </a:lnTo>
                  <a:lnTo>
                    <a:pt x="71323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7"/>
              <a:stretch>
                <a:fillRect l="0" t="0" r="0" b="0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6524206" y="4518393"/>
            <a:ext cx="34290" cy="16002"/>
          </a:xfrm>
          <a:custGeom>
            <a:avLst/>
            <a:gdLst/>
            <a:ahLst/>
            <a:cxnLst/>
            <a:rect r="r" b="b" t="t" l="l"/>
            <a:pathLst>
              <a:path h="16002" w="34290">
                <a:moveTo>
                  <a:pt x="0" y="0"/>
                </a:moveTo>
                <a:lnTo>
                  <a:pt x="34290" y="0"/>
                </a:lnTo>
                <a:lnTo>
                  <a:pt x="34290" y="16002"/>
                </a:lnTo>
                <a:lnTo>
                  <a:pt x="0" y="16002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653203" y="4518746"/>
            <a:ext cx="13716" cy="11430"/>
          </a:xfrm>
          <a:custGeom>
            <a:avLst/>
            <a:gdLst/>
            <a:ahLst/>
            <a:cxnLst/>
            <a:rect r="r" b="b" t="t" l="l"/>
            <a:pathLst>
              <a:path h="11430" w="13716">
                <a:moveTo>
                  <a:pt x="0" y="0"/>
                </a:moveTo>
                <a:lnTo>
                  <a:pt x="13716" y="0"/>
                </a:lnTo>
                <a:lnTo>
                  <a:pt x="1371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6516424" y="4523765"/>
            <a:ext cx="18288" cy="50292"/>
          </a:xfrm>
          <a:custGeom>
            <a:avLst/>
            <a:gdLst/>
            <a:ahLst/>
            <a:cxnLst/>
            <a:rect r="r" b="b" t="t" l="l"/>
            <a:pathLst>
              <a:path h="50292" w="18288">
                <a:moveTo>
                  <a:pt x="0" y="0"/>
                </a:moveTo>
                <a:lnTo>
                  <a:pt x="18288" y="0"/>
                </a:lnTo>
                <a:lnTo>
                  <a:pt x="18288" y="50292"/>
                </a:lnTo>
                <a:lnTo>
                  <a:pt x="0" y="50292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516614" y="4741945"/>
            <a:ext cx="16002" cy="22860"/>
          </a:xfrm>
          <a:custGeom>
            <a:avLst/>
            <a:gdLst/>
            <a:ahLst/>
            <a:cxnLst/>
            <a:rect r="r" b="b" t="t" l="l"/>
            <a:pathLst>
              <a:path h="22860" w="16002">
                <a:moveTo>
                  <a:pt x="0" y="0"/>
                </a:moveTo>
                <a:lnTo>
                  <a:pt x="16002" y="0"/>
                </a:lnTo>
                <a:lnTo>
                  <a:pt x="16002" y="22860"/>
                </a:lnTo>
                <a:lnTo>
                  <a:pt x="0" y="22860"/>
                </a:lnTo>
                <a:lnTo>
                  <a:pt x="0" y="0"/>
                </a:lnTo>
                <a:close/>
              </a:path>
            </a:pathLst>
          </a:custGeom>
          <a:blipFill>
            <a:blip r:embed="rId84">
              <a:extLst>
                <a:ext uri="{96DAC541-7B7A-43D3-8B79-37D633B846F1}">
                  <asvg:svgBlip xmlns:asvg="http://schemas.microsoft.com/office/drawing/2016/SVG/main" r:embed="rId8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6523330" y="4756109"/>
            <a:ext cx="50292" cy="16002"/>
          </a:xfrm>
          <a:custGeom>
            <a:avLst/>
            <a:gdLst/>
            <a:ahLst/>
            <a:cxnLst/>
            <a:rect r="r" b="b" t="t" l="l"/>
            <a:pathLst>
              <a:path h="16002" w="50292">
                <a:moveTo>
                  <a:pt x="0" y="0"/>
                </a:moveTo>
                <a:lnTo>
                  <a:pt x="50292" y="0"/>
                </a:lnTo>
                <a:lnTo>
                  <a:pt x="50292" y="16002"/>
                </a:lnTo>
                <a:lnTo>
                  <a:pt x="0" y="16002"/>
                </a:lnTo>
                <a:lnTo>
                  <a:pt x="0" y="0"/>
                </a:lnTo>
                <a:close/>
              </a:path>
            </a:pathLst>
          </a:custGeom>
          <a:blipFill>
            <a:blip r:embed="rId86">
              <a:extLst>
                <a:ext uri="{96DAC541-7B7A-43D3-8B79-37D633B846F1}">
                  <asvg:svgBlip xmlns:asvg="http://schemas.microsoft.com/office/drawing/2016/SVG/main" r:embed="rId8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6707667" y="4757033"/>
            <a:ext cx="20574" cy="16002"/>
          </a:xfrm>
          <a:custGeom>
            <a:avLst/>
            <a:gdLst/>
            <a:ahLst/>
            <a:cxnLst/>
            <a:rect r="r" b="b" t="t" l="l"/>
            <a:pathLst>
              <a:path h="16002" w="20574">
                <a:moveTo>
                  <a:pt x="0" y="0"/>
                </a:moveTo>
                <a:lnTo>
                  <a:pt x="20574" y="0"/>
                </a:lnTo>
                <a:lnTo>
                  <a:pt x="20574" y="16002"/>
                </a:lnTo>
                <a:lnTo>
                  <a:pt x="0" y="16002"/>
                </a:lnTo>
                <a:lnTo>
                  <a:pt x="0" y="0"/>
                </a:lnTo>
                <a:close/>
              </a:path>
            </a:pathLst>
          </a:custGeom>
          <a:blipFill>
            <a:blip r:embed="rId88">
              <a:extLst>
                <a:ext uri="{96DAC541-7B7A-43D3-8B79-37D633B846F1}">
                  <asvg:svgBlip xmlns:asvg="http://schemas.microsoft.com/office/drawing/2016/SVG/main" r:embed="rId8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6721154" y="4713808"/>
            <a:ext cx="16002" cy="50292"/>
          </a:xfrm>
          <a:custGeom>
            <a:avLst/>
            <a:gdLst/>
            <a:ahLst/>
            <a:cxnLst/>
            <a:rect r="r" b="b" t="t" l="l"/>
            <a:pathLst>
              <a:path h="50292" w="16002">
                <a:moveTo>
                  <a:pt x="0" y="0"/>
                </a:moveTo>
                <a:lnTo>
                  <a:pt x="16002" y="0"/>
                </a:lnTo>
                <a:lnTo>
                  <a:pt x="16002" y="50292"/>
                </a:lnTo>
                <a:lnTo>
                  <a:pt x="0" y="50292"/>
                </a:lnTo>
                <a:lnTo>
                  <a:pt x="0" y="0"/>
                </a:lnTo>
                <a:close/>
              </a:path>
            </a:pathLst>
          </a:custGeom>
          <a:blipFill>
            <a:blip r:embed="rId90">
              <a:extLst>
                <a:ext uri="{96DAC541-7B7A-43D3-8B79-37D633B846F1}">
                  <asvg:svgBlip xmlns:asvg="http://schemas.microsoft.com/office/drawing/2016/SVG/main" r:embed="rId9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6551714" y="4673889"/>
            <a:ext cx="32004" cy="13716"/>
          </a:xfrm>
          <a:custGeom>
            <a:avLst/>
            <a:gdLst/>
            <a:ahLst/>
            <a:cxnLst/>
            <a:rect r="r" b="b" t="t" l="l"/>
            <a:pathLst>
              <a:path h="13716" w="32004">
                <a:moveTo>
                  <a:pt x="0" y="0"/>
                </a:moveTo>
                <a:lnTo>
                  <a:pt x="32004" y="0"/>
                </a:lnTo>
                <a:lnTo>
                  <a:pt x="32004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92">
              <a:extLst>
                <a:ext uri="{96DAC541-7B7A-43D3-8B79-37D633B846F1}">
                  <asvg:svgBlip xmlns:asvg="http://schemas.microsoft.com/office/drawing/2016/SVG/main" r:embed="rId9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6683207" y="4673698"/>
            <a:ext cx="20574" cy="13716"/>
          </a:xfrm>
          <a:custGeom>
            <a:avLst/>
            <a:gdLst/>
            <a:ahLst/>
            <a:cxnLst/>
            <a:rect r="r" b="b" t="t" l="l"/>
            <a:pathLst>
              <a:path h="13716" w="20574">
                <a:moveTo>
                  <a:pt x="0" y="0"/>
                </a:moveTo>
                <a:lnTo>
                  <a:pt x="20574" y="0"/>
                </a:lnTo>
                <a:lnTo>
                  <a:pt x="20574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94">
              <a:extLst>
                <a:ext uri="{96DAC541-7B7A-43D3-8B79-37D633B846F1}">
                  <asvg:svgBlip xmlns:asvg="http://schemas.microsoft.com/office/drawing/2016/SVG/main" r:embed="rId9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6544666" y="4622673"/>
            <a:ext cx="20574" cy="59436"/>
          </a:xfrm>
          <a:custGeom>
            <a:avLst/>
            <a:gdLst/>
            <a:ahLst/>
            <a:cxnLst/>
            <a:rect r="r" b="b" t="t" l="l"/>
            <a:pathLst>
              <a:path h="59436" w="20574">
                <a:moveTo>
                  <a:pt x="0" y="0"/>
                </a:moveTo>
                <a:lnTo>
                  <a:pt x="20574" y="0"/>
                </a:lnTo>
                <a:lnTo>
                  <a:pt x="20574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 r:embed="rId96">
              <a:extLst>
                <a:ext uri="{96DAC541-7B7A-43D3-8B79-37D633B846F1}">
                  <asvg:svgBlip xmlns:asvg="http://schemas.microsoft.com/office/drawing/2016/SVG/main" r:embed="rId9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6691493" y="4622902"/>
            <a:ext cx="18288" cy="59436"/>
          </a:xfrm>
          <a:custGeom>
            <a:avLst/>
            <a:gdLst/>
            <a:ahLst/>
            <a:cxnLst/>
            <a:rect r="r" b="b" t="t" l="l"/>
            <a:pathLst>
              <a:path h="59436" w="18288">
                <a:moveTo>
                  <a:pt x="0" y="0"/>
                </a:moveTo>
                <a:lnTo>
                  <a:pt x="18288" y="0"/>
                </a:lnTo>
                <a:lnTo>
                  <a:pt x="18288" y="59436"/>
                </a:lnTo>
                <a:lnTo>
                  <a:pt x="0" y="59436"/>
                </a:lnTo>
                <a:lnTo>
                  <a:pt x="0" y="0"/>
                </a:lnTo>
                <a:close/>
              </a:path>
            </a:pathLst>
          </a:custGeom>
          <a:blipFill>
            <a:blip r:embed="rId98">
              <a:extLst>
                <a:ext uri="{96DAC541-7B7A-43D3-8B79-37D633B846F1}">
                  <asvg:svgBlip xmlns:asvg="http://schemas.microsoft.com/office/drawing/2016/SVG/main" r:embed="rId9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6654841" y="4519098"/>
            <a:ext cx="82296" cy="80010"/>
          </a:xfrm>
          <a:custGeom>
            <a:avLst/>
            <a:gdLst/>
            <a:ahLst/>
            <a:cxnLst/>
            <a:rect r="r" b="b" t="t" l="l"/>
            <a:pathLst>
              <a:path h="80010" w="82296">
                <a:moveTo>
                  <a:pt x="0" y="0"/>
                </a:moveTo>
                <a:lnTo>
                  <a:pt x="82296" y="0"/>
                </a:lnTo>
                <a:lnTo>
                  <a:pt x="82296" y="80010"/>
                </a:lnTo>
                <a:lnTo>
                  <a:pt x="0" y="80010"/>
                </a:lnTo>
                <a:lnTo>
                  <a:pt x="0" y="0"/>
                </a:lnTo>
                <a:close/>
              </a:path>
            </a:pathLst>
          </a:custGeom>
          <a:blipFill>
            <a:blip r:embed="rId100">
              <a:extLst>
                <a:ext uri="{96DAC541-7B7A-43D3-8B79-37D633B846F1}">
                  <asvg:svgBlip xmlns:asvg="http://schemas.microsoft.com/office/drawing/2016/SVG/main" r:embed="rId10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6675006" y="4588031"/>
            <a:ext cx="61722" cy="11430"/>
          </a:xfrm>
          <a:custGeom>
            <a:avLst/>
            <a:gdLst/>
            <a:ahLst/>
            <a:cxnLst/>
            <a:rect r="r" b="b" t="t" l="l"/>
            <a:pathLst>
              <a:path h="11430" w="61722">
                <a:moveTo>
                  <a:pt x="0" y="0"/>
                </a:moveTo>
                <a:lnTo>
                  <a:pt x="61722" y="0"/>
                </a:lnTo>
                <a:lnTo>
                  <a:pt x="61722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02">
              <a:extLst>
                <a:ext uri="{96DAC541-7B7A-43D3-8B79-37D633B846F1}">
                  <asvg:svgBlip xmlns:asvg="http://schemas.microsoft.com/office/drawing/2016/SVG/main" r:embed="rId1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6522358" y="4522108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04">
              <a:extLst>
                <a:ext uri="{96DAC541-7B7A-43D3-8B79-37D633B846F1}">
                  <asvg:svgBlip xmlns:asvg="http://schemas.microsoft.com/office/drawing/2016/SVG/main" r:embed="rId10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520339" y="4752956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06">
              <a:extLst>
                <a:ext uri="{96DAC541-7B7A-43D3-8B79-37D633B846F1}">
                  <asvg:svgBlip xmlns:asvg="http://schemas.microsoft.com/office/drawing/2016/SVG/main" r:embed="rId10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6521463" y="4754137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08">
              <a:extLst>
                <a:ext uri="{96DAC541-7B7A-43D3-8B79-37D633B846F1}">
                  <asvg:svgBlip xmlns:asvg="http://schemas.microsoft.com/office/drawing/2016/SVG/main" r:embed="rId10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6716420" y="4756080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10">
              <a:extLst>
                <a:ext uri="{96DAC541-7B7A-43D3-8B79-37D633B846F1}">
                  <asvg:svgBlip xmlns:asvg="http://schemas.microsoft.com/office/drawing/2016/SVG/main" r:embed="rId1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6717725" y="4754985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12">
              <a:extLst>
                <a:ext uri="{96DAC541-7B7A-43D3-8B79-37D633B846F1}">
                  <asvg:svgBlip xmlns:asvg="http://schemas.microsoft.com/office/drawing/2016/SVG/main" r:embed="rId1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6719449" y="4753108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14">
              <a:extLst>
                <a:ext uri="{96DAC541-7B7A-43D3-8B79-37D633B846F1}">
                  <asvg:svgBlip xmlns:asvg="http://schemas.microsoft.com/office/drawing/2016/SVG/main" r:embed="rId1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6544647" y="4554607"/>
            <a:ext cx="59436" cy="11430"/>
          </a:xfrm>
          <a:custGeom>
            <a:avLst/>
            <a:gdLst/>
            <a:ahLst/>
            <a:cxnLst/>
            <a:rect r="r" b="b" t="t" l="l"/>
            <a:pathLst>
              <a:path h="11430" w="59436">
                <a:moveTo>
                  <a:pt x="0" y="0"/>
                </a:moveTo>
                <a:lnTo>
                  <a:pt x="59436" y="0"/>
                </a:lnTo>
                <a:lnTo>
                  <a:pt x="5943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16">
              <a:extLst>
                <a:ext uri="{96DAC541-7B7A-43D3-8B79-37D633B846F1}">
                  <asvg:svgBlip xmlns:asvg="http://schemas.microsoft.com/office/drawing/2016/SVG/main" r:embed="rId1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6544647" y="4584221"/>
            <a:ext cx="59436" cy="11430"/>
          </a:xfrm>
          <a:custGeom>
            <a:avLst/>
            <a:gdLst/>
            <a:ahLst/>
            <a:cxnLst/>
            <a:rect r="r" b="b" t="t" l="l"/>
            <a:pathLst>
              <a:path h="11430" w="59436">
                <a:moveTo>
                  <a:pt x="0" y="0"/>
                </a:moveTo>
                <a:lnTo>
                  <a:pt x="59436" y="0"/>
                </a:lnTo>
                <a:lnTo>
                  <a:pt x="5943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18">
              <a:extLst>
                <a:ext uri="{96DAC541-7B7A-43D3-8B79-37D633B846F1}">
                  <asvg:svgBlip xmlns:asvg="http://schemas.microsoft.com/office/drawing/2016/SVG/main" r:embed="rId1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6547771" y="4671555"/>
            <a:ext cx="16002" cy="13716"/>
          </a:xfrm>
          <a:custGeom>
            <a:avLst/>
            <a:gdLst/>
            <a:ahLst/>
            <a:cxnLst/>
            <a:rect r="r" b="b" t="t" l="l"/>
            <a:pathLst>
              <a:path h="13716" w="16002">
                <a:moveTo>
                  <a:pt x="0" y="0"/>
                </a:moveTo>
                <a:lnTo>
                  <a:pt x="16002" y="0"/>
                </a:lnTo>
                <a:lnTo>
                  <a:pt x="16002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20">
              <a:extLst>
                <a:ext uri="{96DAC541-7B7A-43D3-8B79-37D633B846F1}">
                  <asvg:svgBlip xmlns:asvg="http://schemas.microsoft.com/office/drawing/2016/SVG/main" r:embed="rId1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6548276" y="4669965"/>
            <a:ext cx="11430" cy="13716"/>
          </a:xfrm>
          <a:custGeom>
            <a:avLst/>
            <a:gdLst/>
            <a:ahLst/>
            <a:cxnLst/>
            <a:rect r="r" b="b" t="t" l="l"/>
            <a:pathLst>
              <a:path h="13716" w="11430">
                <a:moveTo>
                  <a:pt x="0" y="0"/>
                </a:moveTo>
                <a:lnTo>
                  <a:pt x="11430" y="0"/>
                </a:lnTo>
                <a:lnTo>
                  <a:pt x="11430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22">
              <a:extLst>
                <a:ext uri="{96DAC541-7B7A-43D3-8B79-37D633B846F1}">
                  <asvg:svgBlip xmlns:asvg="http://schemas.microsoft.com/office/drawing/2016/SVG/main" r:embed="rId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6553181" y="4621101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24">
              <a:extLst>
                <a:ext uri="{96DAC541-7B7A-43D3-8B79-37D633B846F1}">
                  <asvg:svgBlip xmlns:asvg="http://schemas.microsoft.com/office/drawing/2016/SVG/main" r:embed="rId1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6546466" y="4518679"/>
            <a:ext cx="118872" cy="11430"/>
          </a:xfrm>
          <a:custGeom>
            <a:avLst/>
            <a:gdLst/>
            <a:ahLst/>
            <a:cxnLst/>
            <a:rect r="r" b="b" t="t" l="l"/>
            <a:pathLst>
              <a:path h="11430" w="118872">
                <a:moveTo>
                  <a:pt x="0" y="0"/>
                </a:moveTo>
                <a:lnTo>
                  <a:pt x="118872" y="0"/>
                </a:lnTo>
                <a:lnTo>
                  <a:pt x="118872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26">
              <a:extLst>
                <a:ext uri="{96DAC541-7B7A-43D3-8B79-37D633B846F1}">
                  <asvg:svgBlip xmlns:asvg="http://schemas.microsoft.com/office/drawing/2016/SVG/main" r:embed="rId1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2" id="72"/>
          <p:cNvSpPr/>
          <p:nvPr/>
        </p:nvSpPr>
        <p:spPr>
          <a:xfrm flipH="false" flipV="false" rot="0">
            <a:off x="6554676" y="4621768"/>
            <a:ext cx="146304" cy="11430"/>
          </a:xfrm>
          <a:custGeom>
            <a:avLst/>
            <a:gdLst/>
            <a:ahLst/>
            <a:cxnLst/>
            <a:rect r="r" b="b" t="t" l="l"/>
            <a:pathLst>
              <a:path h="11430" w="146304">
                <a:moveTo>
                  <a:pt x="0" y="0"/>
                </a:moveTo>
                <a:lnTo>
                  <a:pt x="146304" y="0"/>
                </a:lnTo>
                <a:lnTo>
                  <a:pt x="146304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28">
              <a:extLst>
                <a:ext uri="{96DAC541-7B7A-43D3-8B79-37D633B846F1}">
                  <asvg:svgBlip xmlns:asvg="http://schemas.microsoft.com/office/drawing/2016/SVG/main" r:embed="rId1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6688436" y="4621863"/>
            <a:ext cx="13716" cy="11430"/>
          </a:xfrm>
          <a:custGeom>
            <a:avLst/>
            <a:gdLst/>
            <a:ahLst/>
            <a:cxnLst/>
            <a:rect r="r" b="b" t="t" l="l"/>
            <a:pathLst>
              <a:path h="11430" w="13716">
                <a:moveTo>
                  <a:pt x="0" y="0"/>
                </a:moveTo>
                <a:lnTo>
                  <a:pt x="13716" y="0"/>
                </a:lnTo>
                <a:lnTo>
                  <a:pt x="1371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30">
              <a:extLst>
                <a:ext uri="{96DAC541-7B7A-43D3-8B79-37D633B846F1}">
                  <asvg:svgBlip xmlns:asvg="http://schemas.microsoft.com/office/drawing/2016/SVG/main" r:embed="rId13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689998" y="4621311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32">
              <a:extLst>
                <a:ext uri="{96DAC541-7B7A-43D3-8B79-37D633B846F1}">
                  <asvg:svgBlip xmlns:asvg="http://schemas.microsoft.com/office/drawing/2016/SVG/main" r:embed="rId1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6516834" y="4561913"/>
            <a:ext cx="11430" cy="192024"/>
          </a:xfrm>
          <a:custGeom>
            <a:avLst/>
            <a:gdLst/>
            <a:ahLst/>
            <a:cxnLst/>
            <a:rect r="r" b="b" t="t" l="l"/>
            <a:pathLst>
              <a:path h="192024" w="11430">
                <a:moveTo>
                  <a:pt x="0" y="0"/>
                </a:moveTo>
                <a:lnTo>
                  <a:pt x="11430" y="0"/>
                </a:lnTo>
                <a:lnTo>
                  <a:pt x="11430" y="192024"/>
                </a:lnTo>
                <a:lnTo>
                  <a:pt x="0" y="192024"/>
                </a:lnTo>
                <a:lnTo>
                  <a:pt x="0" y="0"/>
                </a:lnTo>
                <a:close/>
              </a:path>
            </a:pathLst>
          </a:custGeom>
          <a:blipFill>
            <a:blip r:embed="rId134">
              <a:extLst>
                <a:ext uri="{96DAC541-7B7A-43D3-8B79-37D633B846F1}">
                  <asvg:svgBlip xmlns:asvg="http://schemas.microsoft.com/office/drawing/2016/SVG/main" r:embed="rId1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6692303" y="4671146"/>
            <a:ext cx="13716" cy="13716"/>
          </a:xfrm>
          <a:custGeom>
            <a:avLst/>
            <a:gdLst/>
            <a:ahLst/>
            <a:cxnLst/>
            <a:rect r="r" b="b" t="t" l="l"/>
            <a:pathLst>
              <a:path h="13716" w="13716">
                <a:moveTo>
                  <a:pt x="0" y="0"/>
                </a:moveTo>
                <a:lnTo>
                  <a:pt x="13716" y="0"/>
                </a:lnTo>
                <a:lnTo>
                  <a:pt x="13716" y="13716"/>
                </a:lnTo>
                <a:lnTo>
                  <a:pt x="0" y="13716"/>
                </a:lnTo>
                <a:lnTo>
                  <a:pt x="0" y="0"/>
                </a:lnTo>
                <a:close/>
              </a:path>
            </a:pathLst>
          </a:custGeom>
          <a:blipFill>
            <a:blip r:embed="rId136">
              <a:extLst>
                <a:ext uri="{96DAC541-7B7A-43D3-8B79-37D633B846F1}">
                  <asvg:svgBlip xmlns:asvg="http://schemas.microsoft.com/office/drawing/2016/SVG/main" r:embed="rId1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7" id="77"/>
          <p:cNvSpPr/>
          <p:nvPr/>
        </p:nvSpPr>
        <p:spPr>
          <a:xfrm flipH="false" flipV="false" rot="0">
            <a:off x="6561801" y="4760928"/>
            <a:ext cx="157734" cy="11430"/>
          </a:xfrm>
          <a:custGeom>
            <a:avLst/>
            <a:gdLst/>
            <a:ahLst/>
            <a:cxnLst/>
            <a:rect r="r" b="b" t="t" l="l"/>
            <a:pathLst>
              <a:path h="11430" w="157734">
                <a:moveTo>
                  <a:pt x="0" y="0"/>
                </a:moveTo>
                <a:lnTo>
                  <a:pt x="157734" y="0"/>
                </a:lnTo>
                <a:lnTo>
                  <a:pt x="157734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38">
              <a:extLst>
                <a:ext uri="{96DAC541-7B7A-43D3-8B79-37D633B846F1}">
                  <asvg:svgBlip xmlns:asvg="http://schemas.microsoft.com/office/drawing/2016/SVG/main" r:embed="rId13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6637744" y="4714675"/>
            <a:ext cx="70866" cy="11430"/>
          </a:xfrm>
          <a:custGeom>
            <a:avLst/>
            <a:gdLst/>
            <a:ahLst/>
            <a:cxnLst/>
            <a:rect r="r" b="b" t="t" l="l"/>
            <a:pathLst>
              <a:path h="11430" w="70866">
                <a:moveTo>
                  <a:pt x="0" y="0"/>
                </a:moveTo>
                <a:lnTo>
                  <a:pt x="70866" y="0"/>
                </a:lnTo>
                <a:lnTo>
                  <a:pt x="70866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40">
              <a:extLst>
                <a:ext uri="{96DAC541-7B7A-43D3-8B79-37D633B846F1}">
                  <asvg:svgBlip xmlns:asvg="http://schemas.microsoft.com/office/drawing/2016/SVG/main" r:embed="rId14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6654965" y="4564961"/>
            <a:ext cx="32004" cy="34290"/>
          </a:xfrm>
          <a:custGeom>
            <a:avLst/>
            <a:gdLst/>
            <a:ahLst/>
            <a:cxnLst/>
            <a:rect r="r" b="b" t="t" l="l"/>
            <a:pathLst>
              <a:path h="34290" w="32004">
                <a:moveTo>
                  <a:pt x="0" y="0"/>
                </a:moveTo>
                <a:lnTo>
                  <a:pt x="32004" y="0"/>
                </a:lnTo>
                <a:lnTo>
                  <a:pt x="32004" y="34290"/>
                </a:lnTo>
                <a:lnTo>
                  <a:pt x="0" y="34290"/>
                </a:lnTo>
                <a:lnTo>
                  <a:pt x="0" y="0"/>
                </a:lnTo>
                <a:close/>
              </a:path>
            </a:pathLst>
          </a:custGeom>
          <a:blipFill>
            <a:blip r:embed="rId142">
              <a:extLst>
                <a:ext uri="{96DAC541-7B7A-43D3-8B79-37D633B846F1}">
                  <asvg:svgBlip xmlns:asvg="http://schemas.microsoft.com/office/drawing/2016/SVG/main" r:embed="rId1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6725136" y="4587897"/>
            <a:ext cx="11430" cy="137160"/>
          </a:xfrm>
          <a:custGeom>
            <a:avLst/>
            <a:gdLst/>
            <a:ahLst/>
            <a:cxnLst/>
            <a:rect r="r" b="b" t="t" l="l"/>
            <a:pathLst>
              <a:path h="137160" w="11430">
                <a:moveTo>
                  <a:pt x="0" y="0"/>
                </a:moveTo>
                <a:lnTo>
                  <a:pt x="11430" y="0"/>
                </a:lnTo>
                <a:lnTo>
                  <a:pt x="11430" y="137160"/>
                </a:lnTo>
                <a:lnTo>
                  <a:pt x="0" y="137160"/>
                </a:lnTo>
                <a:lnTo>
                  <a:pt x="0" y="0"/>
                </a:lnTo>
                <a:close/>
              </a:path>
            </a:pathLst>
          </a:custGeom>
          <a:blipFill>
            <a:blip r:embed="rId144">
              <a:extLst>
                <a:ext uri="{96DAC541-7B7A-43D3-8B79-37D633B846F1}">
                  <asvg:svgBlip xmlns:asvg="http://schemas.microsoft.com/office/drawing/2016/SVG/main" r:embed="rId1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6655499" y="4518870"/>
            <a:ext cx="11430" cy="57150"/>
          </a:xfrm>
          <a:custGeom>
            <a:avLst/>
            <a:gdLst/>
            <a:ahLst/>
            <a:cxnLst/>
            <a:rect r="r" b="b" t="t" l="l"/>
            <a:pathLst>
              <a:path h="57150" w="11430">
                <a:moveTo>
                  <a:pt x="0" y="0"/>
                </a:moveTo>
                <a:lnTo>
                  <a:pt x="11430" y="0"/>
                </a:lnTo>
                <a:lnTo>
                  <a:pt x="1143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blipFill>
            <a:blip r:embed="rId146">
              <a:extLst>
                <a:ext uri="{96DAC541-7B7A-43D3-8B79-37D633B846F1}">
                  <asvg:svgBlip xmlns:asvg="http://schemas.microsoft.com/office/drawing/2016/SVG/main" r:embed="rId1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false" flipV="false" rot="0">
            <a:off x="6571917" y="4676118"/>
            <a:ext cx="123444" cy="11430"/>
          </a:xfrm>
          <a:custGeom>
            <a:avLst/>
            <a:gdLst/>
            <a:ahLst/>
            <a:cxnLst/>
            <a:rect r="r" b="b" t="t" l="l"/>
            <a:pathLst>
              <a:path h="11430" w="123444">
                <a:moveTo>
                  <a:pt x="0" y="0"/>
                </a:moveTo>
                <a:lnTo>
                  <a:pt x="123444" y="0"/>
                </a:lnTo>
                <a:lnTo>
                  <a:pt x="123444" y="11430"/>
                </a:lnTo>
                <a:lnTo>
                  <a:pt x="0" y="11430"/>
                </a:lnTo>
                <a:lnTo>
                  <a:pt x="0" y="0"/>
                </a:lnTo>
                <a:close/>
              </a:path>
            </a:pathLst>
          </a:custGeom>
          <a:blipFill>
            <a:blip r:embed="rId148">
              <a:extLst>
                <a:ext uri="{96DAC541-7B7A-43D3-8B79-37D633B846F1}">
                  <asvg:svgBlip xmlns:asvg="http://schemas.microsoft.com/office/drawing/2016/SVG/main" r:embed="rId14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661540" y="578310"/>
            <a:ext cx="9154439" cy="61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8"/>
              </a:lnSpc>
            </a:pPr>
            <a:r>
              <a:rPr lang="en-US" sz="3534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La Solución: Ecosistema Digital CargoFlow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409195" y="1541335"/>
            <a:ext cx="45425" cy="24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41029" y="5456111"/>
            <a:ext cx="4700968" cy="53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Registro secuencial del flete con respaldos fotográficos y marcas de tiempo.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41029" y="3274885"/>
            <a:ext cx="5035553" cy="53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App móvil para choferes en ruta y portal web optimizado para oficinas.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661540" y="1541335"/>
            <a:ext cx="7941402" cy="242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Conexión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directa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control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operacional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tiempo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real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para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toda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cadena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transporte</a:t>
            </a:r>
            <a:r>
              <a:rPr lang="en-US" sz="1413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portuario.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360766" y="3274885"/>
            <a:ext cx="4688224" cy="53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Billetera digital con control de vigencia antes de autorizar viajes.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6360766" y="5456111"/>
            <a:ext cx="4952057" cy="538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413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Informes PDF descargables y compartibles para respaldo de cobro.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41029" y="5051708"/>
            <a:ext cx="2470614" cy="31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Trazabilidad de 5 Hitos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41029" y="2870483"/>
            <a:ext cx="3033170" cy="31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Plataforma Multiplataforma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6360766" y="5051708"/>
            <a:ext cx="2445944" cy="31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Liquidación Inmediata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6360766" y="2870483"/>
            <a:ext cx="2525659" cy="314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3"/>
              </a:lnSpc>
            </a:pPr>
            <a:r>
              <a:rPr lang="en-US" sz="1766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Validación Documental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48400" y="1185903"/>
            <a:ext cx="5573988" cy="20196"/>
          </a:xfrm>
          <a:custGeom>
            <a:avLst/>
            <a:gdLst/>
            <a:ahLst/>
            <a:cxnLst/>
            <a:rect r="r" b="b" t="t" l="l"/>
            <a:pathLst>
              <a:path h="20196" w="5573988">
                <a:moveTo>
                  <a:pt x="0" y="0"/>
                </a:moveTo>
                <a:lnTo>
                  <a:pt x="5573988" y="0"/>
                </a:lnTo>
                <a:lnTo>
                  <a:pt x="5573988" y="20196"/>
                </a:lnTo>
                <a:lnTo>
                  <a:pt x="0" y="2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48400" y="2417835"/>
            <a:ext cx="5573988" cy="20196"/>
          </a:xfrm>
          <a:custGeom>
            <a:avLst/>
            <a:gdLst/>
            <a:ahLst/>
            <a:cxnLst/>
            <a:rect r="r" b="b" t="t" l="l"/>
            <a:pathLst>
              <a:path h="20196" w="5573988">
                <a:moveTo>
                  <a:pt x="0" y="0"/>
                </a:moveTo>
                <a:lnTo>
                  <a:pt x="5573988" y="0"/>
                </a:lnTo>
                <a:lnTo>
                  <a:pt x="5573988" y="20196"/>
                </a:lnTo>
                <a:lnTo>
                  <a:pt x="0" y="2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48400" y="3649767"/>
            <a:ext cx="5573988" cy="20196"/>
          </a:xfrm>
          <a:custGeom>
            <a:avLst/>
            <a:gdLst/>
            <a:ahLst/>
            <a:cxnLst/>
            <a:rect r="r" b="b" t="t" l="l"/>
            <a:pathLst>
              <a:path h="20196" w="5573988">
                <a:moveTo>
                  <a:pt x="0" y="0"/>
                </a:moveTo>
                <a:lnTo>
                  <a:pt x="5573988" y="0"/>
                </a:lnTo>
                <a:lnTo>
                  <a:pt x="5573988" y="20196"/>
                </a:lnTo>
                <a:lnTo>
                  <a:pt x="0" y="2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248400" y="4881699"/>
            <a:ext cx="5573988" cy="20196"/>
          </a:xfrm>
          <a:custGeom>
            <a:avLst/>
            <a:gdLst/>
            <a:ahLst/>
            <a:cxnLst/>
            <a:rect r="r" b="b" t="t" l="l"/>
            <a:pathLst>
              <a:path h="20196" w="5573988">
                <a:moveTo>
                  <a:pt x="0" y="0"/>
                </a:moveTo>
                <a:lnTo>
                  <a:pt x="5573988" y="0"/>
                </a:lnTo>
                <a:lnTo>
                  <a:pt x="5573988" y="20196"/>
                </a:lnTo>
                <a:lnTo>
                  <a:pt x="0" y="20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5863" y="793397"/>
            <a:ext cx="5517942" cy="3144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256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Objetivos del Proyecto</a:t>
            </a:r>
          </a:p>
          <a:p>
            <a:pPr algn="l">
              <a:lnSpc>
                <a:spcPts val="3084"/>
              </a:lnSpc>
            </a:pPr>
            <a:r>
              <a:rPr lang="en-US" sz="2128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Objetivo General</a:t>
            </a:r>
          </a:p>
          <a:p>
            <a:pPr algn="l">
              <a:lnSpc>
                <a:spcPts val="2466"/>
              </a:lnSpc>
            </a:pPr>
            <a:r>
              <a:rPr lang="en-US" sz="1702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Desarrollar e implementar una plataforma tecnológica multiplataforma que digitalice, centralice y optimice la gestión de fletes terrestres portuarios en la zona central de Chile.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52025" y="3743325"/>
            <a:ext cx="4363837" cy="59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Registro de 5 Hitos</a:t>
            </a:r>
          </a:p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Sistema de trazabilidad con cálculo automático de estadías.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52025" y="1279461"/>
            <a:ext cx="4999200" cy="59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Billetera Digital de Flota</a:t>
            </a:r>
          </a:p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Semáforos inteligentes de vencimiento con soporte PDF e imágenes.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52025" y="4965159"/>
            <a:ext cx="5238165" cy="607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Backend Seguro en la Nube</a:t>
            </a:r>
          </a:p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Reglas de acceso basadas en roles para aislar información confidencial.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52025" y="2511393"/>
            <a:ext cx="4890568" cy="59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8"/>
              </a:lnSpc>
            </a:pPr>
            <a:r>
              <a:rPr lang="en-US" sz="1577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Publicación y Asignación de Fletes</a:t>
            </a:r>
          </a:p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Módulo de gestión de fletes por contenedor con asignación directa.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48400" y="4493580"/>
            <a:ext cx="186385" cy="21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48400" y="2029716"/>
            <a:ext cx="181437" cy="21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48400" y="3261648"/>
            <a:ext cx="180316" cy="21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48400" y="797784"/>
            <a:ext cx="158768" cy="216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261">
                <a:solidFill>
                  <a:srgbClr val="D6E5EF"/>
                </a:solidFill>
                <a:latin typeface="Roboto Slab Light"/>
                <a:ea typeface="Roboto Slab Light"/>
                <a:cs typeface="Roboto Slab Light"/>
                <a:sym typeface="Roboto Slab Light"/>
              </a:rPr>
              <a:t>01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57225" y="2619375"/>
            <a:ext cx="2009775" cy="1247775"/>
            <a:chOff x="0" y="0"/>
            <a:chExt cx="2679700" cy="166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79700" cy="1663700"/>
            </a:xfrm>
            <a:custGeom>
              <a:avLst/>
              <a:gdLst/>
              <a:ahLst/>
              <a:cxnLst/>
              <a:rect r="r" b="b" t="t" l="l"/>
              <a:pathLst>
                <a:path h="1663700" w="2679700">
                  <a:moveTo>
                    <a:pt x="31496" y="0"/>
                  </a:moveTo>
                  <a:cubicBezTo>
                    <a:pt x="22860" y="0"/>
                    <a:pt x="15367" y="3048"/>
                    <a:pt x="9271" y="9271"/>
                  </a:cubicBezTo>
                  <a:cubicBezTo>
                    <a:pt x="3175" y="15494"/>
                    <a:pt x="0" y="22860"/>
                    <a:pt x="0" y="31496"/>
                  </a:cubicBezTo>
                  <a:lnTo>
                    <a:pt x="0" y="1632204"/>
                  </a:lnTo>
                  <a:cubicBezTo>
                    <a:pt x="0" y="1640840"/>
                    <a:pt x="3048" y="1648333"/>
                    <a:pt x="9271" y="1654429"/>
                  </a:cubicBezTo>
                  <a:cubicBezTo>
                    <a:pt x="15494" y="1660525"/>
                    <a:pt x="22860" y="1663700"/>
                    <a:pt x="31496" y="1663700"/>
                  </a:cubicBezTo>
                  <a:lnTo>
                    <a:pt x="2648204" y="1663700"/>
                  </a:lnTo>
                  <a:cubicBezTo>
                    <a:pt x="2656840" y="1663700"/>
                    <a:pt x="2664333" y="1660652"/>
                    <a:pt x="2670429" y="1654429"/>
                  </a:cubicBezTo>
                  <a:cubicBezTo>
                    <a:pt x="2676525" y="1648206"/>
                    <a:pt x="2679700" y="1640840"/>
                    <a:pt x="2679700" y="1632204"/>
                  </a:cubicBezTo>
                  <a:lnTo>
                    <a:pt x="2679700" y="31496"/>
                  </a:lnTo>
                  <a:cubicBezTo>
                    <a:pt x="2679700" y="22733"/>
                    <a:pt x="2676652" y="15367"/>
                    <a:pt x="2670429" y="9271"/>
                  </a:cubicBezTo>
                  <a:cubicBezTo>
                    <a:pt x="2664206" y="3175"/>
                    <a:pt x="2656840" y="0"/>
                    <a:pt x="2648204" y="0"/>
                  </a:cubicBezTo>
                  <a:close/>
                </a:path>
              </a:pathLst>
            </a:custGeom>
            <a:blipFill>
              <a:blip r:embed="rId2"/>
              <a:stretch>
                <a:fillRect l="-31" t="-50" r="-38" b="-5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362450" y="2619375"/>
            <a:ext cx="2009775" cy="1247775"/>
            <a:chOff x="0" y="0"/>
            <a:chExt cx="2679700" cy="16637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79700" cy="1663700"/>
            </a:xfrm>
            <a:custGeom>
              <a:avLst/>
              <a:gdLst/>
              <a:ahLst/>
              <a:cxnLst/>
              <a:rect r="r" b="b" t="t" l="l"/>
              <a:pathLst>
                <a:path h="1663700" w="2679700">
                  <a:moveTo>
                    <a:pt x="31496" y="0"/>
                  </a:moveTo>
                  <a:cubicBezTo>
                    <a:pt x="22860" y="0"/>
                    <a:pt x="15367" y="3048"/>
                    <a:pt x="9271" y="9271"/>
                  </a:cubicBezTo>
                  <a:cubicBezTo>
                    <a:pt x="3175" y="15494"/>
                    <a:pt x="0" y="22860"/>
                    <a:pt x="0" y="31496"/>
                  </a:cubicBezTo>
                  <a:lnTo>
                    <a:pt x="0" y="1632204"/>
                  </a:lnTo>
                  <a:cubicBezTo>
                    <a:pt x="0" y="1640840"/>
                    <a:pt x="3048" y="1648333"/>
                    <a:pt x="9271" y="1654429"/>
                  </a:cubicBezTo>
                  <a:cubicBezTo>
                    <a:pt x="15494" y="1660525"/>
                    <a:pt x="22860" y="1663700"/>
                    <a:pt x="31496" y="1663700"/>
                  </a:cubicBezTo>
                  <a:lnTo>
                    <a:pt x="2648204" y="1663700"/>
                  </a:lnTo>
                  <a:cubicBezTo>
                    <a:pt x="2656840" y="1663700"/>
                    <a:pt x="2664333" y="1660652"/>
                    <a:pt x="2670429" y="1654429"/>
                  </a:cubicBezTo>
                  <a:cubicBezTo>
                    <a:pt x="2676525" y="1648206"/>
                    <a:pt x="2679700" y="1640840"/>
                    <a:pt x="2679700" y="1632204"/>
                  </a:cubicBezTo>
                  <a:lnTo>
                    <a:pt x="2679700" y="31496"/>
                  </a:lnTo>
                  <a:cubicBezTo>
                    <a:pt x="2679700" y="22733"/>
                    <a:pt x="2676652" y="15367"/>
                    <a:pt x="2670429" y="9271"/>
                  </a:cubicBezTo>
                  <a:cubicBezTo>
                    <a:pt x="2664206" y="3175"/>
                    <a:pt x="2656840" y="0"/>
                    <a:pt x="2648204" y="0"/>
                  </a:cubicBezTo>
                  <a:close/>
                </a:path>
              </a:pathLst>
            </a:custGeom>
            <a:blipFill>
              <a:blip r:embed="rId3"/>
              <a:stretch>
                <a:fillRect l="-31" t="-50" r="-38" b="-5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67675" y="2619375"/>
            <a:ext cx="2009775" cy="1247775"/>
            <a:chOff x="0" y="0"/>
            <a:chExt cx="2679700" cy="166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79700" cy="1663700"/>
            </a:xfrm>
            <a:custGeom>
              <a:avLst/>
              <a:gdLst/>
              <a:ahLst/>
              <a:cxnLst/>
              <a:rect r="r" b="b" t="t" l="l"/>
              <a:pathLst>
                <a:path h="1663700" w="2679700">
                  <a:moveTo>
                    <a:pt x="31496" y="0"/>
                  </a:moveTo>
                  <a:cubicBezTo>
                    <a:pt x="22860" y="0"/>
                    <a:pt x="15367" y="3048"/>
                    <a:pt x="9271" y="9271"/>
                  </a:cubicBezTo>
                  <a:cubicBezTo>
                    <a:pt x="3175" y="15494"/>
                    <a:pt x="0" y="22733"/>
                    <a:pt x="0" y="31369"/>
                  </a:cubicBezTo>
                  <a:lnTo>
                    <a:pt x="0" y="1632204"/>
                  </a:lnTo>
                  <a:cubicBezTo>
                    <a:pt x="0" y="1640840"/>
                    <a:pt x="3048" y="1648333"/>
                    <a:pt x="9271" y="1654429"/>
                  </a:cubicBezTo>
                  <a:cubicBezTo>
                    <a:pt x="15494" y="1660525"/>
                    <a:pt x="22860" y="1663700"/>
                    <a:pt x="31496" y="1663700"/>
                  </a:cubicBezTo>
                  <a:lnTo>
                    <a:pt x="2648204" y="1663700"/>
                  </a:lnTo>
                  <a:cubicBezTo>
                    <a:pt x="2656840" y="1663700"/>
                    <a:pt x="2664333" y="1660652"/>
                    <a:pt x="2670429" y="1654429"/>
                  </a:cubicBezTo>
                  <a:cubicBezTo>
                    <a:pt x="2676525" y="1648206"/>
                    <a:pt x="2679700" y="1640840"/>
                    <a:pt x="2679700" y="1632204"/>
                  </a:cubicBezTo>
                  <a:lnTo>
                    <a:pt x="2679700" y="31496"/>
                  </a:lnTo>
                  <a:cubicBezTo>
                    <a:pt x="2679700" y="22733"/>
                    <a:pt x="2676652" y="15367"/>
                    <a:pt x="2670429" y="9271"/>
                  </a:cubicBezTo>
                  <a:cubicBezTo>
                    <a:pt x="2664206" y="3175"/>
                    <a:pt x="2656840" y="0"/>
                    <a:pt x="2648204" y="0"/>
                  </a:cubicBezTo>
                  <a:close/>
                </a:path>
              </a:pathLst>
            </a:custGeom>
            <a:blipFill>
              <a:blip r:embed="rId4"/>
              <a:stretch>
                <a:fillRect l="-31" t="-50" r="-38" b="-5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61540" y="1068962"/>
            <a:ext cx="7906312" cy="657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9"/>
              </a:lnSpc>
            </a:pPr>
            <a:r>
              <a:rPr lang="en-US" sz="372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Roles de Usuario y Flujo de Trabajo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7186" y="2104234"/>
            <a:ext cx="47815" cy="26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1540" y="4466434"/>
            <a:ext cx="3540690" cy="121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Publica fletes con datos del contenedor, valida documentos de la flota asignada y monitorea el avance del viaje en tiempo real.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63193" y="4466434"/>
            <a:ext cx="3198066" cy="1216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Administra camiones y choferes con códigos de invitación, filtra fletes por tarifa o puerto, y asigna recursos disponibles.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540" y="2104234"/>
            <a:ext cx="7022173" cy="26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3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Tres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interfaces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diseñadas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específicamente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para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cada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actor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cadena</a:t>
            </a:r>
            <a:r>
              <a:rPr lang="en-US" sz="148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logística.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64846" y="4466434"/>
            <a:ext cx="3455070" cy="911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488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Visualiza viajes asignados en su celular, actualiza su licencia y reporta los hitos con fotos en un solo toque.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1540" y="4068308"/>
            <a:ext cx="3223536" cy="3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Cliente / Generador de Carga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63193" y="4068308"/>
            <a:ext cx="2615717" cy="3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Empresa Transportista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64846" y="4068308"/>
            <a:ext cx="2132943" cy="328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4"/>
              </a:lnSpc>
            </a:pPr>
            <a:r>
              <a:rPr lang="en-US" sz="186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Conductor (Chofer)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20050" y="3676650"/>
            <a:ext cx="47625" cy="47625"/>
            <a:chOff x="0" y="0"/>
            <a:chExt cx="47625" cy="47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144" y="42926"/>
                    <a:pt x="6985" y="40640"/>
                  </a:cubicBezTo>
                  <a:cubicBezTo>
                    <a:pt x="4826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20050" y="4200525"/>
            <a:ext cx="47625" cy="47625"/>
            <a:chOff x="0" y="0"/>
            <a:chExt cx="47625" cy="476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144" y="42926"/>
                    <a:pt x="6985" y="40640"/>
                  </a:cubicBezTo>
                  <a:cubicBezTo>
                    <a:pt x="4826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020050" y="4724400"/>
            <a:ext cx="47625" cy="47625"/>
            <a:chOff x="0" y="0"/>
            <a:chExt cx="47625" cy="476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752" cy="47752"/>
            </a:xfrm>
            <a:custGeom>
              <a:avLst/>
              <a:gdLst/>
              <a:ahLst/>
              <a:cxnLst/>
              <a:rect r="r" b="b" t="t" l="l"/>
              <a:pathLst>
                <a:path h="47752" w="47752">
                  <a:moveTo>
                    <a:pt x="47625" y="23876"/>
                  </a:moveTo>
                  <a:cubicBezTo>
                    <a:pt x="47625" y="27051"/>
                    <a:pt x="46990" y="30099"/>
                    <a:pt x="45847" y="33020"/>
                  </a:cubicBezTo>
                  <a:cubicBezTo>
                    <a:pt x="44704" y="35941"/>
                    <a:pt x="42926" y="38481"/>
                    <a:pt x="40640" y="40767"/>
                  </a:cubicBezTo>
                  <a:cubicBezTo>
                    <a:pt x="38354" y="43053"/>
                    <a:pt x="35814" y="44704"/>
                    <a:pt x="32893" y="45974"/>
                  </a:cubicBezTo>
                  <a:cubicBezTo>
                    <a:pt x="29972" y="47244"/>
                    <a:pt x="26924" y="47752"/>
                    <a:pt x="23749" y="47752"/>
                  </a:cubicBezTo>
                  <a:cubicBezTo>
                    <a:pt x="20574" y="47752"/>
                    <a:pt x="17526" y="47117"/>
                    <a:pt x="14605" y="45974"/>
                  </a:cubicBezTo>
                  <a:cubicBezTo>
                    <a:pt x="11684" y="44831"/>
                    <a:pt x="9144" y="42926"/>
                    <a:pt x="6985" y="40640"/>
                  </a:cubicBezTo>
                  <a:cubicBezTo>
                    <a:pt x="4826" y="38354"/>
                    <a:pt x="3048" y="35814"/>
                    <a:pt x="1778" y="32893"/>
                  </a:cubicBezTo>
                  <a:cubicBezTo>
                    <a:pt x="508" y="29972"/>
                    <a:pt x="0" y="26924"/>
                    <a:pt x="0" y="23876"/>
                  </a:cubicBezTo>
                  <a:cubicBezTo>
                    <a:pt x="0" y="20828"/>
                    <a:pt x="635" y="17653"/>
                    <a:pt x="1778" y="14732"/>
                  </a:cubicBezTo>
                  <a:cubicBezTo>
                    <a:pt x="2921" y="11811"/>
                    <a:pt x="4699" y="9144"/>
                    <a:pt x="6985" y="6985"/>
                  </a:cubicBezTo>
                  <a:cubicBezTo>
                    <a:pt x="9271" y="4826"/>
                    <a:pt x="11811" y="3048"/>
                    <a:pt x="14732" y="1778"/>
                  </a:cubicBezTo>
                  <a:cubicBezTo>
                    <a:pt x="17653" y="508"/>
                    <a:pt x="20701" y="0"/>
                    <a:pt x="23876" y="0"/>
                  </a:cubicBezTo>
                  <a:cubicBezTo>
                    <a:pt x="27051" y="0"/>
                    <a:pt x="30099" y="635"/>
                    <a:pt x="33020" y="1778"/>
                  </a:cubicBezTo>
                  <a:cubicBezTo>
                    <a:pt x="35941" y="2921"/>
                    <a:pt x="38481" y="4699"/>
                    <a:pt x="40767" y="6985"/>
                  </a:cubicBezTo>
                  <a:cubicBezTo>
                    <a:pt x="43053" y="9271"/>
                    <a:pt x="44704" y="11811"/>
                    <a:pt x="45974" y="14732"/>
                  </a:cubicBezTo>
                  <a:cubicBezTo>
                    <a:pt x="47244" y="17653"/>
                    <a:pt x="47752" y="20701"/>
                    <a:pt x="47752" y="23876"/>
                  </a:cubicBezTo>
                  <a:close/>
                </a:path>
              </a:pathLst>
            </a:custGeom>
            <a:solidFill>
              <a:srgbClr val="D6E5E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80002" y="1863130"/>
            <a:ext cx="4388816" cy="4149115"/>
          </a:xfrm>
          <a:custGeom>
            <a:avLst/>
            <a:gdLst/>
            <a:ahLst/>
            <a:cxnLst/>
            <a:rect r="r" b="b" t="t" l="l"/>
            <a:pathLst>
              <a:path h="4149115" w="4388816">
                <a:moveTo>
                  <a:pt x="0" y="0"/>
                </a:moveTo>
                <a:lnTo>
                  <a:pt x="4388816" y="0"/>
                </a:lnTo>
                <a:lnTo>
                  <a:pt x="4388816" y="4149116"/>
                </a:lnTo>
                <a:lnTo>
                  <a:pt x="0" y="4149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61540" y="578091"/>
            <a:ext cx="7435110" cy="55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Módulo Clave: Billetera Digital de Flota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9950" y="1415729"/>
            <a:ext cx="40634" cy="22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1540" y="1415729"/>
            <a:ext cx="5585822" cy="220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0"/>
              </a:lnSpc>
            </a:pP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Cumplimiento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normativo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garantizado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cero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rechazos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accesos</a:t>
            </a: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portuarios.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90580" y="2320604"/>
            <a:ext cx="3535785" cy="111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Carga de documentos en PDF de alta resolución e imágenes con compresión automática para optimizar el almacenamiento.</a:t>
            </a:r>
          </a:p>
          <a:p>
            <a:pPr algn="l">
              <a:lnSpc>
                <a:spcPts val="2344"/>
              </a:lnSpc>
            </a:pPr>
            <a:r>
              <a:rPr lang="en-US" sz="158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Semáforos de Vigencia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47459" y="3533842"/>
            <a:ext cx="3314452" cy="1519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🟢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264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Vigente: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Documento validado y con fecha al día.</a:t>
            </a:r>
          </a:p>
          <a:p>
            <a:pPr algn="l">
              <a:lnSpc>
                <a:spcPts val="1875"/>
              </a:lnSpc>
              <a:spcBef>
                <a:spcPts val="374"/>
              </a:spcBef>
            </a:pP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🟠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264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Por Vencer: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Alerta preventiva con menos de 30 días.</a:t>
            </a:r>
          </a:p>
          <a:p>
            <a:pPr algn="l">
              <a:lnSpc>
                <a:spcPts val="1875"/>
              </a:lnSpc>
              <a:spcBef>
                <a:spcPts val="374"/>
              </a:spcBef>
            </a:pPr>
            <a:r>
              <a:rPr lang="en-US" sz="126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🔴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b="true" sz="1264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Vencido:</a:t>
            </a: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Bloqueo automático de asignación de fletes.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90580" y="5606729"/>
            <a:ext cx="3601364" cy="46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Cliente y transportista inspeccionan documentos con zoom sin salir de la aplicación.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90580" y="5199231"/>
            <a:ext cx="2220544" cy="27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3"/>
              </a:lnSpc>
            </a:pPr>
            <a:r>
              <a:rPr lang="en-US" sz="158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Visor Integrado In-App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90580" y="1913106"/>
            <a:ext cx="2709005" cy="27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3"/>
              </a:lnSpc>
            </a:pPr>
            <a:r>
              <a:rPr lang="en-US" sz="158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Soporte Híbrido de Archivos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57137" y="1711709"/>
            <a:ext cx="2665486" cy="2665495"/>
            <a:chOff x="0" y="0"/>
            <a:chExt cx="2665489" cy="26655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-32"/>
              <a:ext cx="2665481" cy="2665542"/>
            </a:xfrm>
            <a:custGeom>
              <a:avLst/>
              <a:gdLst/>
              <a:ahLst/>
              <a:cxnLst/>
              <a:rect r="r" b="b" t="t" l="l"/>
              <a:pathLst>
                <a:path h="2665542" w="2665481">
                  <a:moveTo>
                    <a:pt x="1323724" y="2953"/>
                  </a:moveTo>
                  <a:cubicBezTo>
                    <a:pt x="1327661" y="-984"/>
                    <a:pt x="1334138" y="-984"/>
                    <a:pt x="1338075" y="2953"/>
                  </a:cubicBezTo>
                  <a:lnTo>
                    <a:pt x="1402845" y="67723"/>
                  </a:lnTo>
                  <a:cubicBezTo>
                    <a:pt x="1406782" y="71660"/>
                    <a:pt x="1406782" y="78137"/>
                    <a:pt x="1402845" y="82074"/>
                  </a:cubicBezTo>
                  <a:cubicBezTo>
                    <a:pt x="1398908" y="86011"/>
                    <a:pt x="1392431" y="86011"/>
                    <a:pt x="1388494" y="82074"/>
                  </a:cubicBezTo>
                  <a:lnTo>
                    <a:pt x="1341123" y="34703"/>
                  </a:lnTo>
                  <a:lnTo>
                    <a:pt x="1341123" y="204883"/>
                  </a:lnTo>
                  <a:cubicBezTo>
                    <a:pt x="1958344" y="208058"/>
                    <a:pt x="2458598" y="705899"/>
                    <a:pt x="2465456" y="1322230"/>
                  </a:cubicBezTo>
                  <a:lnTo>
                    <a:pt x="2642875" y="1322230"/>
                  </a:lnTo>
                  <a:lnTo>
                    <a:pt x="2612014" y="1274859"/>
                  </a:lnTo>
                  <a:cubicBezTo>
                    <a:pt x="2609474" y="1270922"/>
                    <a:pt x="2609474" y="1264445"/>
                    <a:pt x="2612014" y="1260508"/>
                  </a:cubicBezTo>
                  <a:cubicBezTo>
                    <a:pt x="2614554" y="1256571"/>
                    <a:pt x="2618745" y="1256571"/>
                    <a:pt x="2621412" y="1260508"/>
                  </a:cubicBezTo>
                  <a:lnTo>
                    <a:pt x="2663576" y="1325278"/>
                  </a:lnTo>
                  <a:cubicBezTo>
                    <a:pt x="2666116" y="1329215"/>
                    <a:pt x="2666116" y="1335692"/>
                    <a:pt x="2663576" y="1339629"/>
                  </a:cubicBezTo>
                  <a:lnTo>
                    <a:pt x="2621412" y="1404399"/>
                  </a:lnTo>
                  <a:cubicBezTo>
                    <a:pt x="2618872" y="1408336"/>
                    <a:pt x="2614681" y="1408336"/>
                    <a:pt x="2612014" y="1404399"/>
                  </a:cubicBezTo>
                  <a:cubicBezTo>
                    <a:pt x="2609347" y="1400462"/>
                    <a:pt x="2609474" y="1393985"/>
                    <a:pt x="2612014" y="1390048"/>
                  </a:cubicBezTo>
                  <a:lnTo>
                    <a:pt x="2642875" y="1342677"/>
                  </a:lnTo>
                  <a:lnTo>
                    <a:pt x="2465456" y="1342677"/>
                  </a:lnTo>
                  <a:cubicBezTo>
                    <a:pt x="2461519" y="1961549"/>
                    <a:pt x="1960122" y="2462437"/>
                    <a:pt x="1341123" y="2465612"/>
                  </a:cubicBezTo>
                  <a:lnTo>
                    <a:pt x="1341123" y="2630840"/>
                  </a:lnTo>
                  <a:lnTo>
                    <a:pt x="1388494" y="2583468"/>
                  </a:lnTo>
                  <a:cubicBezTo>
                    <a:pt x="1392431" y="2579532"/>
                    <a:pt x="1398908" y="2579532"/>
                    <a:pt x="1402845" y="2583468"/>
                  </a:cubicBezTo>
                  <a:cubicBezTo>
                    <a:pt x="1406782" y="2587405"/>
                    <a:pt x="1406782" y="2593883"/>
                    <a:pt x="1402845" y="2597820"/>
                  </a:cubicBezTo>
                  <a:lnTo>
                    <a:pt x="1338075" y="2662590"/>
                  </a:lnTo>
                  <a:cubicBezTo>
                    <a:pt x="1334138" y="2666527"/>
                    <a:pt x="1327661" y="2666527"/>
                    <a:pt x="1323724" y="2662590"/>
                  </a:cubicBezTo>
                  <a:lnTo>
                    <a:pt x="1258953" y="2597820"/>
                  </a:lnTo>
                  <a:cubicBezTo>
                    <a:pt x="1255017" y="2593883"/>
                    <a:pt x="1255017" y="2587405"/>
                    <a:pt x="1258953" y="2583468"/>
                  </a:cubicBezTo>
                  <a:cubicBezTo>
                    <a:pt x="1262891" y="2579532"/>
                    <a:pt x="1269367" y="2579532"/>
                    <a:pt x="1273305" y="2583468"/>
                  </a:cubicBezTo>
                  <a:lnTo>
                    <a:pt x="1320676" y="2630840"/>
                  </a:lnTo>
                  <a:lnTo>
                    <a:pt x="1320676" y="2465486"/>
                  </a:lnTo>
                  <a:cubicBezTo>
                    <a:pt x="705486" y="2457738"/>
                    <a:pt x="208788" y="1958628"/>
                    <a:pt x="204851" y="1342677"/>
                  </a:cubicBezTo>
                  <a:lnTo>
                    <a:pt x="22606" y="1342677"/>
                  </a:lnTo>
                  <a:lnTo>
                    <a:pt x="53467" y="1390048"/>
                  </a:lnTo>
                  <a:cubicBezTo>
                    <a:pt x="56007" y="1393985"/>
                    <a:pt x="56007" y="1400462"/>
                    <a:pt x="53467" y="1404399"/>
                  </a:cubicBezTo>
                  <a:cubicBezTo>
                    <a:pt x="50927" y="1408336"/>
                    <a:pt x="46736" y="1408336"/>
                    <a:pt x="44069" y="1404399"/>
                  </a:cubicBezTo>
                  <a:lnTo>
                    <a:pt x="1905" y="1339629"/>
                  </a:lnTo>
                  <a:cubicBezTo>
                    <a:pt x="-635" y="1335692"/>
                    <a:pt x="-635" y="1329215"/>
                    <a:pt x="1905" y="1325278"/>
                  </a:cubicBezTo>
                  <a:lnTo>
                    <a:pt x="44069" y="1260508"/>
                  </a:lnTo>
                  <a:cubicBezTo>
                    <a:pt x="46609" y="1256571"/>
                    <a:pt x="50800" y="1256571"/>
                    <a:pt x="53467" y="1260508"/>
                  </a:cubicBezTo>
                  <a:cubicBezTo>
                    <a:pt x="56134" y="1264445"/>
                    <a:pt x="56007" y="1270922"/>
                    <a:pt x="53467" y="1274859"/>
                  </a:cubicBezTo>
                  <a:lnTo>
                    <a:pt x="22606" y="1322230"/>
                  </a:lnTo>
                  <a:lnTo>
                    <a:pt x="204978" y="1322230"/>
                  </a:lnTo>
                  <a:cubicBezTo>
                    <a:pt x="211836" y="708820"/>
                    <a:pt x="707518" y="212630"/>
                    <a:pt x="1320803" y="205010"/>
                  </a:cubicBezTo>
                  <a:lnTo>
                    <a:pt x="1320803" y="34703"/>
                  </a:lnTo>
                  <a:lnTo>
                    <a:pt x="1273431" y="82074"/>
                  </a:lnTo>
                  <a:cubicBezTo>
                    <a:pt x="1269494" y="86011"/>
                    <a:pt x="1263017" y="86011"/>
                    <a:pt x="1259080" y="82074"/>
                  </a:cubicBezTo>
                  <a:cubicBezTo>
                    <a:pt x="1255143" y="78137"/>
                    <a:pt x="1255143" y="71660"/>
                    <a:pt x="1259080" y="67723"/>
                  </a:cubicBezTo>
                  <a:lnTo>
                    <a:pt x="1323851" y="2953"/>
                  </a:lnTo>
                  <a:close/>
                  <a:moveTo>
                    <a:pt x="1971044" y="1342677"/>
                  </a:moveTo>
                  <a:cubicBezTo>
                    <a:pt x="1967107" y="1688499"/>
                    <a:pt x="1687198" y="1967899"/>
                    <a:pt x="1341123" y="1971074"/>
                  </a:cubicBezTo>
                  <a:lnTo>
                    <a:pt x="1341123" y="2409097"/>
                  </a:lnTo>
                  <a:cubicBezTo>
                    <a:pt x="1929007" y="2405922"/>
                    <a:pt x="2405004" y="1930434"/>
                    <a:pt x="2408941" y="1342677"/>
                  </a:cubicBezTo>
                  <a:lnTo>
                    <a:pt x="1971044" y="1342677"/>
                  </a:lnTo>
                  <a:close/>
                  <a:moveTo>
                    <a:pt x="261493" y="1342677"/>
                  </a:moveTo>
                  <a:cubicBezTo>
                    <a:pt x="265430" y="1927513"/>
                    <a:pt x="736855" y="2401350"/>
                    <a:pt x="1320803" y="2408970"/>
                  </a:cubicBezTo>
                  <a:lnTo>
                    <a:pt x="1320803" y="1970947"/>
                  </a:lnTo>
                  <a:cubicBezTo>
                    <a:pt x="978791" y="1963327"/>
                    <a:pt x="703327" y="1685578"/>
                    <a:pt x="699517" y="1342677"/>
                  </a:cubicBezTo>
                  <a:lnTo>
                    <a:pt x="261494" y="1342677"/>
                  </a:lnTo>
                  <a:close/>
                  <a:moveTo>
                    <a:pt x="1426848" y="1342677"/>
                  </a:moveTo>
                  <a:cubicBezTo>
                    <a:pt x="1423292" y="1388016"/>
                    <a:pt x="1386716" y="1424084"/>
                    <a:pt x="1341250" y="1426878"/>
                  </a:cubicBezTo>
                  <a:lnTo>
                    <a:pt x="1341250" y="1942753"/>
                  </a:lnTo>
                  <a:cubicBezTo>
                    <a:pt x="1671577" y="1939578"/>
                    <a:pt x="1938913" y="1672751"/>
                    <a:pt x="1942850" y="1342550"/>
                  </a:cubicBezTo>
                  <a:lnTo>
                    <a:pt x="1426721" y="1342550"/>
                  </a:lnTo>
                  <a:close/>
                  <a:moveTo>
                    <a:pt x="727711" y="1342550"/>
                  </a:moveTo>
                  <a:cubicBezTo>
                    <a:pt x="731648" y="1669829"/>
                    <a:pt x="994412" y="1934879"/>
                    <a:pt x="1320803" y="1942499"/>
                  </a:cubicBezTo>
                  <a:lnTo>
                    <a:pt x="1320803" y="1425989"/>
                  </a:lnTo>
                  <a:cubicBezTo>
                    <a:pt x="1279273" y="1419385"/>
                    <a:pt x="1247142" y="1385095"/>
                    <a:pt x="1243713" y="1342677"/>
                  </a:cubicBezTo>
                  <a:lnTo>
                    <a:pt x="727711" y="1342677"/>
                  </a:lnTo>
                  <a:close/>
                  <a:moveTo>
                    <a:pt x="1186817" y="1462438"/>
                  </a:moveTo>
                  <a:cubicBezTo>
                    <a:pt x="1198501" y="1462438"/>
                    <a:pt x="1208026" y="1471963"/>
                    <a:pt x="1208026" y="1483647"/>
                  </a:cubicBezTo>
                  <a:lnTo>
                    <a:pt x="1208026" y="1674402"/>
                  </a:lnTo>
                  <a:cubicBezTo>
                    <a:pt x="1208026" y="1686086"/>
                    <a:pt x="1198501" y="1695611"/>
                    <a:pt x="1186817" y="1695611"/>
                  </a:cubicBezTo>
                  <a:cubicBezTo>
                    <a:pt x="1175133" y="1695611"/>
                    <a:pt x="1165608" y="1686086"/>
                    <a:pt x="1165608" y="1674402"/>
                  </a:cubicBezTo>
                  <a:lnTo>
                    <a:pt x="1165608" y="1534829"/>
                  </a:lnTo>
                  <a:lnTo>
                    <a:pt x="989967" y="1710470"/>
                  </a:lnTo>
                  <a:lnTo>
                    <a:pt x="959995" y="1680498"/>
                  </a:lnTo>
                  <a:lnTo>
                    <a:pt x="1135763" y="1504729"/>
                  </a:lnTo>
                  <a:lnTo>
                    <a:pt x="996063" y="1504729"/>
                  </a:lnTo>
                  <a:cubicBezTo>
                    <a:pt x="984379" y="1504729"/>
                    <a:pt x="974854" y="1495204"/>
                    <a:pt x="974854" y="1483520"/>
                  </a:cubicBezTo>
                  <a:cubicBezTo>
                    <a:pt x="974854" y="1471836"/>
                    <a:pt x="984379" y="1462311"/>
                    <a:pt x="996063" y="1462311"/>
                  </a:cubicBezTo>
                  <a:lnTo>
                    <a:pt x="1186817" y="1462311"/>
                  </a:lnTo>
                  <a:close/>
                  <a:moveTo>
                    <a:pt x="1674244" y="1462311"/>
                  </a:moveTo>
                  <a:cubicBezTo>
                    <a:pt x="1685928" y="1462311"/>
                    <a:pt x="1695453" y="1471836"/>
                    <a:pt x="1695453" y="1483520"/>
                  </a:cubicBezTo>
                  <a:cubicBezTo>
                    <a:pt x="1695453" y="1495204"/>
                    <a:pt x="1685928" y="1504729"/>
                    <a:pt x="1674244" y="1504729"/>
                  </a:cubicBezTo>
                  <a:lnTo>
                    <a:pt x="1534798" y="1504729"/>
                  </a:lnTo>
                  <a:lnTo>
                    <a:pt x="1710566" y="1680498"/>
                  </a:lnTo>
                  <a:lnTo>
                    <a:pt x="1680594" y="1710470"/>
                  </a:lnTo>
                  <a:lnTo>
                    <a:pt x="1504826" y="1534702"/>
                  </a:lnTo>
                  <a:lnTo>
                    <a:pt x="1504826" y="1674274"/>
                  </a:lnTo>
                  <a:cubicBezTo>
                    <a:pt x="1504826" y="1685959"/>
                    <a:pt x="1495301" y="1695484"/>
                    <a:pt x="1483617" y="1695484"/>
                  </a:cubicBezTo>
                  <a:cubicBezTo>
                    <a:pt x="1471933" y="1695484"/>
                    <a:pt x="1462408" y="1685959"/>
                    <a:pt x="1462408" y="1674274"/>
                  </a:cubicBezTo>
                  <a:lnTo>
                    <a:pt x="1462408" y="1483647"/>
                  </a:lnTo>
                  <a:cubicBezTo>
                    <a:pt x="1462408" y="1471963"/>
                    <a:pt x="1471933" y="1462438"/>
                    <a:pt x="1483617" y="1462438"/>
                  </a:cubicBezTo>
                  <a:lnTo>
                    <a:pt x="1674371" y="1462438"/>
                  </a:lnTo>
                  <a:close/>
                  <a:moveTo>
                    <a:pt x="1320803" y="261525"/>
                  </a:moveTo>
                  <a:cubicBezTo>
                    <a:pt x="738760" y="269145"/>
                    <a:pt x="268351" y="740062"/>
                    <a:pt x="261493" y="1322230"/>
                  </a:cubicBezTo>
                  <a:lnTo>
                    <a:pt x="699517" y="1322230"/>
                  </a:lnTo>
                  <a:cubicBezTo>
                    <a:pt x="706375" y="981870"/>
                    <a:pt x="980569" y="707169"/>
                    <a:pt x="1320803" y="699549"/>
                  </a:cubicBezTo>
                  <a:lnTo>
                    <a:pt x="1320803" y="261525"/>
                  </a:lnTo>
                  <a:close/>
                  <a:moveTo>
                    <a:pt x="1320803" y="727870"/>
                  </a:moveTo>
                  <a:cubicBezTo>
                    <a:pt x="996190" y="735490"/>
                    <a:pt x="734696" y="997491"/>
                    <a:pt x="727838" y="1322230"/>
                  </a:cubicBezTo>
                  <a:lnTo>
                    <a:pt x="1244348" y="1322230"/>
                  </a:lnTo>
                  <a:cubicBezTo>
                    <a:pt x="1249936" y="1282352"/>
                    <a:pt x="1281179" y="1250729"/>
                    <a:pt x="1320803" y="1244506"/>
                  </a:cubicBezTo>
                  <a:lnTo>
                    <a:pt x="1320803" y="727870"/>
                  </a:lnTo>
                  <a:close/>
                  <a:moveTo>
                    <a:pt x="1341123" y="1243617"/>
                  </a:moveTo>
                  <a:cubicBezTo>
                    <a:pt x="1384811" y="1246411"/>
                    <a:pt x="1420117" y="1279558"/>
                    <a:pt x="1426086" y="1322357"/>
                  </a:cubicBezTo>
                  <a:lnTo>
                    <a:pt x="1942596" y="1322357"/>
                  </a:lnTo>
                  <a:cubicBezTo>
                    <a:pt x="1935738" y="994697"/>
                    <a:pt x="1669545" y="730918"/>
                    <a:pt x="1341123" y="727743"/>
                  </a:cubicBezTo>
                  <a:lnTo>
                    <a:pt x="1341123" y="1243617"/>
                  </a:lnTo>
                  <a:close/>
                  <a:moveTo>
                    <a:pt x="1341123" y="699422"/>
                  </a:moveTo>
                  <a:cubicBezTo>
                    <a:pt x="1685166" y="702597"/>
                    <a:pt x="1964059" y="979076"/>
                    <a:pt x="1970917" y="1322230"/>
                  </a:cubicBezTo>
                  <a:lnTo>
                    <a:pt x="2408941" y="1322230"/>
                  </a:lnTo>
                  <a:cubicBezTo>
                    <a:pt x="2401956" y="737141"/>
                    <a:pt x="1927102" y="264573"/>
                    <a:pt x="1341123" y="261398"/>
                  </a:cubicBezTo>
                  <a:lnTo>
                    <a:pt x="1341123" y="699422"/>
                  </a:lnTo>
                  <a:close/>
                  <a:moveTo>
                    <a:pt x="1165608" y="1149891"/>
                  </a:moveTo>
                  <a:lnTo>
                    <a:pt x="1165608" y="1010318"/>
                  </a:lnTo>
                  <a:cubicBezTo>
                    <a:pt x="1165608" y="998634"/>
                    <a:pt x="1175133" y="989109"/>
                    <a:pt x="1186817" y="989109"/>
                  </a:cubicBezTo>
                  <a:cubicBezTo>
                    <a:pt x="1198501" y="989109"/>
                    <a:pt x="1208026" y="998634"/>
                    <a:pt x="1208026" y="1010318"/>
                  </a:cubicBezTo>
                  <a:lnTo>
                    <a:pt x="1208026" y="1201072"/>
                  </a:lnTo>
                  <a:cubicBezTo>
                    <a:pt x="1208026" y="1212756"/>
                    <a:pt x="1198501" y="1222281"/>
                    <a:pt x="1186817" y="1222281"/>
                  </a:cubicBezTo>
                  <a:lnTo>
                    <a:pt x="996063" y="1222281"/>
                  </a:lnTo>
                  <a:cubicBezTo>
                    <a:pt x="984379" y="1222281"/>
                    <a:pt x="974854" y="1212756"/>
                    <a:pt x="974854" y="1201072"/>
                  </a:cubicBezTo>
                  <a:cubicBezTo>
                    <a:pt x="974854" y="1189388"/>
                    <a:pt x="984379" y="1179863"/>
                    <a:pt x="996063" y="1179863"/>
                  </a:cubicBezTo>
                  <a:lnTo>
                    <a:pt x="1135636" y="1179863"/>
                  </a:lnTo>
                  <a:lnTo>
                    <a:pt x="959995" y="1004095"/>
                  </a:lnTo>
                  <a:lnTo>
                    <a:pt x="989967" y="974123"/>
                  </a:lnTo>
                  <a:lnTo>
                    <a:pt x="1165608" y="1149891"/>
                  </a:lnTo>
                  <a:close/>
                  <a:moveTo>
                    <a:pt x="1710439" y="1004095"/>
                  </a:moveTo>
                  <a:lnTo>
                    <a:pt x="1534798" y="1179863"/>
                  </a:lnTo>
                  <a:lnTo>
                    <a:pt x="1674371" y="1179863"/>
                  </a:lnTo>
                  <a:cubicBezTo>
                    <a:pt x="1686055" y="1179863"/>
                    <a:pt x="1695580" y="1189388"/>
                    <a:pt x="1695580" y="1201072"/>
                  </a:cubicBezTo>
                  <a:cubicBezTo>
                    <a:pt x="1695580" y="1212756"/>
                    <a:pt x="1686055" y="1222281"/>
                    <a:pt x="1674371" y="1222281"/>
                  </a:cubicBezTo>
                  <a:lnTo>
                    <a:pt x="1483617" y="1222281"/>
                  </a:lnTo>
                  <a:cubicBezTo>
                    <a:pt x="1471933" y="1222281"/>
                    <a:pt x="1462408" y="1212756"/>
                    <a:pt x="1462408" y="1201072"/>
                  </a:cubicBezTo>
                  <a:lnTo>
                    <a:pt x="1462408" y="1010318"/>
                  </a:lnTo>
                  <a:cubicBezTo>
                    <a:pt x="1462408" y="998634"/>
                    <a:pt x="1471933" y="989109"/>
                    <a:pt x="1483617" y="989109"/>
                  </a:cubicBezTo>
                  <a:cubicBezTo>
                    <a:pt x="1495301" y="989109"/>
                    <a:pt x="1504826" y="998634"/>
                    <a:pt x="1504826" y="1010318"/>
                  </a:cubicBezTo>
                  <a:lnTo>
                    <a:pt x="1504826" y="1149891"/>
                  </a:lnTo>
                  <a:lnTo>
                    <a:pt x="1680467" y="974123"/>
                  </a:lnTo>
                  <a:lnTo>
                    <a:pt x="1710439" y="1004095"/>
                  </a:lnTo>
                  <a:close/>
                </a:path>
              </a:pathLst>
            </a:custGeom>
            <a:solidFill>
              <a:srgbClr val="66A8EE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3722" y="5041897"/>
            <a:ext cx="11004547" cy="1346197"/>
            <a:chOff x="0" y="0"/>
            <a:chExt cx="11004550" cy="134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5410200" cy="581025"/>
            </a:xfrm>
            <a:custGeom>
              <a:avLst/>
              <a:gdLst/>
              <a:ahLst/>
              <a:cxnLst/>
              <a:rect r="r" b="b" t="t" l="l"/>
              <a:pathLst>
                <a:path h="581025" w="5410200">
                  <a:moveTo>
                    <a:pt x="0" y="567055"/>
                  </a:moveTo>
                  <a:lnTo>
                    <a:pt x="0" y="13970"/>
                  </a:lnTo>
                  <a:cubicBezTo>
                    <a:pt x="0" y="12065"/>
                    <a:pt x="381" y="10287"/>
                    <a:pt x="1016" y="8636"/>
                  </a:cubicBezTo>
                  <a:cubicBezTo>
                    <a:pt x="1651" y="6985"/>
                    <a:pt x="2667" y="5461"/>
                    <a:pt x="4064" y="4064"/>
                  </a:cubicBezTo>
                  <a:cubicBezTo>
                    <a:pt x="5461" y="2667"/>
                    <a:pt x="6858" y="1778"/>
                    <a:pt x="8636" y="1016"/>
                  </a:cubicBezTo>
                  <a:cubicBezTo>
                    <a:pt x="10414" y="254"/>
                    <a:pt x="12065" y="0"/>
                    <a:pt x="13970" y="0"/>
                  </a:cubicBezTo>
                  <a:lnTo>
                    <a:pt x="5396230" y="0"/>
                  </a:lnTo>
                  <a:cubicBezTo>
                    <a:pt x="5398135" y="0"/>
                    <a:pt x="5399913" y="381"/>
                    <a:pt x="5401564" y="1016"/>
                  </a:cubicBezTo>
                  <a:cubicBezTo>
                    <a:pt x="5403215" y="1651"/>
                    <a:pt x="5404739" y="2667"/>
                    <a:pt x="5406136" y="4064"/>
                  </a:cubicBezTo>
                  <a:cubicBezTo>
                    <a:pt x="5407533" y="5461"/>
                    <a:pt x="5408422" y="6858"/>
                    <a:pt x="5409184" y="8636"/>
                  </a:cubicBezTo>
                  <a:cubicBezTo>
                    <a:pt x="5409946" y="10414"/>
                    <a:pt x="5410200" y="12065"/>
                    <a:pt x="5410200" y="13970"/>
                  </a:cubicBezTo>
                  <a:lnTo>
                    <a:pt x="5410200" y="567055"/>
                  </a:lnTo>
                  <a:cubicBezTo>
                    <a:pt x="5410200" y="568960"/>
                    <a:pt x="5409819" y="570738"/>
                    <a:pt x="5409184" y="572389"/>
                  </a:cubicBezTo>
                  <a:cubicBezTo>
                    <a:pt x="5408549" y="574040"/>
                    <a:pt x="5407533" y="575564"/>
                    <a:pt x="5406136" y="576961"/>
                  </a:cubicBezTo>
                  <a:cubicBezTo>
                    <a:pt x="5404739" y="578358"/>
                    <a:pt x="5403342" y="579247"/>
                    <a:pt x="5401564" y="580009"/>
                  </a:cubicBezTo>
                  <a:cubicBezTo>
                    <a:pt x="5399786" y="580771"/>
                    <a:pt x="5398135" y="581025"/>
                    <a:pt x="5396230" y="581025"/>
                  </a:cubicBezTo>
                  <a:lnTo>
                    <a:pt x="13970" y="581025"/>
                  </a:lnTo>
                  <a:cubicBezTo>
                    <a:pt x="12065" y="581025"/>
                    <a:pt x="10287" y="580644"/>
                    <a:pt x="8636" y="580009"/>
                  </a:cubicBezTo>
                  <a:cubicBezTo>
                    <a:pt x="6985" y="579374"/>
                    <a:pt x="5461" y="578358"/>
                    <a:pt x="4064" y="576961"/>
                  </a:cubicBezTo>
                  <a:cubicBezTo>
                    <a:pt x="2667" y="575564"/>
                    <a:pt x="1778" y="574167"/>
                    <a:pt x="1016" y="572389"/>
                  </a:cubicBezTo>
                  <a:cubicBezTo>
                    <a:pt x="254" y="570611"/>
                    <a:pt x="0" y="568960"/>
                    <a:pt x="0" y="567055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530850" y="63500"/>
              <a:ext cx="5410200" cy="581025"/>
            </a:xfrm>
            <a:custGeom>
              <a:avLst/>
              <a:gdLst/>
              <a:ahLst/>
              <a:cxnLst/>
              <a:rect r="r" b="b" t="t" l="l"/>
              <a:pathLst>
                <a:path h="581025" w="5410200">
                  <a:moveTo>
                    <a:pt x="0" y="567055"/>
                  </a:moveTo>
                  <a:lnTo>
                    <a:pt x="0" y="13970"/>
                  </a:lnTo>
                  <a:cubicBezTo>
                    <a:pt x="0" y="12065"/>
                    <a:pt x="381" y="10287"/>
                    <a:pt x="1016" y="8636"/>
                  </a:cubicBezTo>
                  <a:cubicBezTo>
                    <a:pt x="1651" y="6985"/>
                    <a:pt x="2667" y="5461"/>
                    <a:pt x="4064" y="4064"/>
                  </a:cubicBezTo>
                  <a:cubicBezTo>
                    <a:pt x="5461" y="2667"/>
                    <a:pt x="6858" y="1778"/>
                    <a:pt x="8636" y="1016"/>
                  </a:cubicBezTo>
                  <a:cubicBezTo>
                    <a:pt x="10414" y="254"/>
                    <a:pt x="12065" y="0"/>
                    <a:pt x="13970" y="0"/>
                  </a:cubicBezTo>
                  <a:lnTo>
                    <a:pt x="5396230" y="0"/>
                  </a:lnTo>
                  <a:cubicBezTo>
                    <a:pt x="5398136" y="0"/>
                    <a:pt x="5399787" y="381"/>
                    <a:pt x="5401564" y="1016"/>
                  </a:cubicBezTo>
                  <a:cubicBezTo>
                    <a:pt x="5403342" y="1651"/>
                    <a:pt x="5404739" y="2667"/>
                    <a:pt x="5406137" y="4064"/>
                  </a:cubicBezTo>
                  <a:cubicBezTo>
                    <a:pt x="5407533" y="5461"/>
                    <a:pt x="5408423" y="6858"/>
                    <a:pt x="5409185" y="8636"/>
                  </a:cubicBezTo>
                  <a:cubicBezTo>
                    <a:pt x="5409947" y="10414"/>
                    <a:pt x="5410200" y="12065"/>
                    <a:pt x="5410200" y="13970"/>
                  </a:cubicBezTo>
                  <a:lnTo>
                    <a:pt x="5410200" y="567055"/>
                  </a:lnTo>
                  <a:cubicBezTo>
                    <a:pt x="5410200" y="568960"/>
                    <a:pt x="5409819" y="570738"/>
                    <a:pt x="5409185" y="572389"/>
                  </a:cubicBezTo>
                  <a:cubicBezTo>
                    <a:pt x="5408549" y="574040"/>
                    <a:pt x="5407533" y="575564"/>
                    <a:pt x="5406137" y="576961"/>
                  </a:cubicBezTo>
                  <a:cubicBezTo>
                    <a:pt x="5404739" y="578358"/>
                    <a:pt x="5403342" y="579247"/>
                    <a:pt x="5401564" y="580009"/>
                  </a:cubicBezTo>
                  <a:cubicBezTo>
                    <a:pt x="5399787" y="580771"/>
                    <a:pt x="5398136" y="581025"/>
                    <a:pt x="5396230" y="581025"/>
                  </a:cubicBezTo>
                  <a:lnTo>
                    <a:pt x="13970" y="581025"/>
                  </a:lnTo>
                  <a:cubicBezTo>
                    <a:pt x="12065" y="581025"/>
                    <a:pt x="10287" y="580644"/>
                    <a:pt x="8636" y="580009"/>
                  </a:cubicBezTo>
                  <a:cubicBezTo>
                    <a:pt x="6985" y="579374"/>
                    <a:pt x="5461" y="578358"/>
                    <a:pt x="4064" y="576961"/>
                  </a:cubicBezTo>
                  <a:cubicBezTo>
                    <a:pt x="2667" y="575564"/>
                    <a:pt x="1778" y="574167"/>
                    <a:pt x="1016" y="572389"/>
                  </a:cubicBezTo>
                  <a:cubicBezTo>
                    <a:pt x="254" y="570611"/>
                    <a:pt x="0" y="568960"/>
                    <a:pt x="0" y="567055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711200"/>
              <a:ext cx="5410200" cy="571500"/>
            </a:xfrm>
            <a:custGeom>
              <a:avLst/>
              <a:gdLst/>
              <a:ahLst/>
              <a:cxnLst/>
              <a:rect r="r" b="b" t="t" l="l"/>
              <a:pathLst>
                <a:path h="571500" w="5410200">
                  <a:moveTo>
                    <a:pt x="0" y="557530"/>
                  </a:moveTo>
                  <a:lnTo>
                    <a:pt x="0" y="13970"/>
                  </a:lnTo>
                  <a:cubicBezTo>
                    <a:pt x="0" y="12065"/>
                    <a:pt x="381" y="10287"/>
                    <a:pt x="1016" y="8636"/>
                  </a:cubicBezTo>
                  <a:cubicBezTo>
                    <a:pt x="1651" y="6985"/>
                    <a:pt x="2667" y="5461"/>
                    <a:pt x="4064" y="4064"/>
                  </a:cubicBezTo>
                  <a:cubicBezTo>
                    <a:pt x="5461" y="2667"/>
                    <a:pt x="6858" y="1778"/>
                    <a:pt x="8636" y="1016"/>
                  </a:cubicBezTo>
                  <a:cubicBezTo>
                    <a:pt x="10414" y="254"/>
                    <a:pt x="12065" y="0"/>
                    <a:pt x="13970" y="0"/>
                  </a:cubicBezTo>
                  <a:lnTo>
                    <a:pt x="5396230" y="0"/>
                  </a:lnTo>
                  <a:cubicBezTo>
                    <a:pt x="5398135" y="0"/>
                    <a:pt x="5399913" y="381"/>
                    <a:pt x="5401564" y="1016"/>
                  </a:cubicBezTo>
                  <a:cubicBezTo>
                    <a:pt x="5403215" y="1651"/>
                    <a:pt x="5404739" y="2667"/>
                    <a:pt x="5406136" y="4064"/>
                  </a:cubicBezTo>
                  <a:cubicBezTo>
                    <a:pt x="5407533" y="5461"/>
                    <a:pt x="5408422" y="6858"/>
                    <a:pt x="5409184" y="8636"/>
                  </a:cubicBezTo>
                  <a:cubicBezTo>
                    <a:pt x="5409946" y="10414"/>
                    <a:pt x="5410200" y="12065"/>
                    <a:pt x="5410200" y="13970"/>
                  </a:cubicBezTo>
                  <a:lnTo>
                    <a:pt x="5410200" y="557530"/>
                  </a:lnTo>
                  <a:cubicBezTo>
                    <a:pt x="5410200" y="559435"/>
                    <a:pt x="5409819" y="561213"/>
                    <a:pt x="5409184" y="562864"/>
                  </a:cubicBezTo>
                  <a:cubicBezTo>
                    <a:pt x="5408549" y="564515"/>
                    <a:pt x="5407533" y="566039"/>
                    <a:pt x="5406136" y="567436"/>
                  </a:cubicBezTo>
                  <a:cubicBezTo>
                    <a:pt x="5404739" y="568833"/>
                    <a:pt x="5403342" y="569722"/>
                    <a:pt x="5401564" y="570484"/>
                  </a:cubicBezTo>
                  <a:cubicBezTo>
                    <a:pt x="5399786" y="571246"/>
                    <a:pt x="5398135" y="571500"/>
                    <a:pt x="5396230" y="571500"/>
                  </a:cubicBezTo>
                  <a:lnTo>
                    <a:pt x="13970" y="571500"/>
                  </a:lnTo>
                  <a:cubicBezTo>
                    <a:pt x="12065" y="571500"/>
                    <a:pt x="10287" y="571119"/>
                    <a:pt x="8636" y="570484"/>
                  </a:cubicBezTo>
                  <a:cubicBezTo>
                    <a:pt x="6985" y="569849"/>
                    <a:pt x="5461" y="568833"/>
                    <a:pt x="4064" y="567436"/>
                  </a:cubicBezTo>
                  <a:cubicBezTo>
                    <a:pt x="2667" y="566039"/>
                    <a:pt x="1778" y="564642"/>
                    <a:pt x="1016" y="562864"/>
                  </a:cubicBezTo>
                  <a:cubicBezTo>
                    <a:pt x="254" y="561086"/>
                    <a:pt x="0" y="559435"/>
                    <a:pt x="0" y="557530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530850" y="711200"/>
              <a:ext cx="5410200" cy="571500"/>
            </a:xfrm>
            <a:custGeom>
              <a:avLst/>
              <a:gdLst/>
              <a:ahLst/>
              <a:cxnLst/>
              <a:rect r="r" b="b" t="t" l="l"/>
              <a:pathLst>
                <a:path h="571500" w="5410200">
                  <a:moveTo>
                    <a:pt x="0" y="557530"/>
                  </a:moveTo>
                  <a:lnTo>
                    <a:pt x="0" y="13970"/>
                  </a:lnTo>
                  <a:cubicBezTo>
                    <a:pt x="0" y="12065"/>
                    <a:pt x="381" y="10287"/>
                    <a:pt x="1016" y="8636"/>
                  </a:cubicBezTo>
                  <a:cubicBezTo>
                    <a:pt x="1651" y="6985"/>
                    <a:pt x="2667" y="5461"/>
                    <a:pt x="4064" y="4064"/>
                  </a:cubicBezTo>
                  <a:cubicBezTo>
                    <a:pt x="5461" y="2667"/>
                    <a:pt x="6858" y="1778"/>
                    <a:pt x="8636" y="1016"/>
                  </a:cubicBezTo>
                  <a:cubicBezTo>
                    <a:pt x="10414" y="254"/>
                    <a:pt x="12065" y="0"/>
                    <a:pt x="13970" y="0"/>
                  </a:cubicBezTo>
                  <a:lnTo>
                    <a:pt x="5396230" y="0"/>
                  </a:lnTo>
                  <a:cubicBezTo>
                    <a:pt x="5398136" y="0"/>
                    <a:pt x="5399787" y="381"/>
                    <a:pt x="5401564" y="1016"/>
                  </a:cubicBezTo>
                  <a:cubicBezTo>
                    <a:pt x="5403342" y="1651"/>
                    <a:pt x="5404739" y="2667"/>
                    <a:pt x="5406137" y="4064"/>
                  </a:cubicBezTo>
                  <a:cubicBezTo>
                    <a:pt x="5407533" y="5461"/>
                    <a:pt x="5408423" y="6858"/>
                    <a:pt x="5409185" y="8636"/>
                  </a:cubicBezTo>
                  <a:cubicBezTo>
                    <a:pt x="5409947" y="10414"/>
                    <a:pt x="5410200" y="12065"/>
                    <a:pt x="5410200" y="13970"/>
                  </a:cubicBezTo>
                  <a:lnTo>
                    <a:pt x="5410200" y="557530"/>
                  </a:lnTo>
                  <a:cubicBezTo>
                    <a:pt x="5410200" y="559435"/>
                    <a:pt x="5409819" y="561213"/>
                    <a:pt x="5409185" y="562864"/>
                  </a:cubicBezTo>
                  <a:cubicBezTo>
                    <a:pt x="5408549" y="564515"/>
                    <a:pt x="5407533" y="566039"/>
                    <a:pt x="5406137" y="567436"/>
                  </a:cubicBezTo>
                  <a:cubicBezTo>
                    <a:pt x="5404739" y="568833"/>
                    <a:pt x="5403342" y="569722"/>
                    <a:pt x="5401564" y="570484"/>
                  </a:cubicBezTo>
                  <a:cubicBezTo>
                    <a:pt x="5399787" y="571246"/>
                    <a:pt x="5398136" y="571500"/>
                    <a:pt x="5396230" y="571500"/>
                  </a:cubicBezTo>
                  <a:lnTo>
                    <a:pt x="13970" y="571500"/>
                  </a:lnTo>
                  <a:cubicBezTo>
                    <a:pt x="12065" y="571500"/>
                    <a:pt x="10287" y="571119"/>
                    <a:pt x="8636" y="570484"/>
                  </a:cubicBezTo>
                  <a:cubicBezTo>
                    <a:pt x="6985" y="569849"/>
                    <a:pt x="5461" y="568833"/>
                    <a:pt x="4064" y="567436"/>
                  </a:cubicBezTo>
                  <a:cubicBezTo>
                    <a:pt x="2667" y="566039"/>
                    <a:pt x="1778" y="564642"/>
                    <a:pt x="1016" y="562864"/>
                  </a:cubicBezTo>
                  <a:cubicBezTo>
                    <a:pt x="254" y="561086"/>
                    <a:pt x="0" y="559435"/>
                    <a:pt x="0" y="557530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007100" y="1025525"/>
              <a:ext cx="733552" cy="142875"/>
            </a:xfrm>
            <a:custGeom>
              <a:avLst/>
              <a:gdLst/>
              <a:ahLst/>
              <a:cxnLst/>
              <a:rect r="r" b="b" t="t" l="l"/>
              <a:pathLst>
                <a:path h="142875" w="733552">
                  <a:moveTo>
                    <a:pt x="0" y="128905"/>
                  </a:moveTo>
                  <a:lnTo>
                    <a:pt x="0" y="13970"/>
                  </a:lnTo>
                  <a:cubicBezTo>
                    <a:pt x="0" y="12065"/>
                    <a:pt x="381" y="10287"/>
                    <a:pt x="1016" y="8636"/>
                  </a:cubicBezTo>
                  <a:cubicBezTo>
                    <a:pt x="1651" y="6985"/>
                    <a:pt x="2667" y="5461"/>
                    <a:pt x="4064" y="4064"/>
                  </a:cubicBezTo>
                  <a:cubicBezTo>
                    <a:pt x="5461" y="2667"/>
                    <a:pt x="6858" y="1778"/>
                    <a:pt x="8636" y="1016"/>
                  </a:cubicBezTo>
                  <a:cubicBezTo>
                    <a:pt x="10414" y="254"/>
                    <a:pt x="12065" y="0"/>
                    <a:pt x="13970" y="0"/>
                  </a:cubicBezTo>
                  <a:lnTo>
                    <a:pt x="719582" y="0"/>
                  </a:lnTo>
                  <a:cubicBezTo>
                    <a:pt x="721487" y="0"/>
                    <a:pt x="723265" y="381"/>
                    <a:pt x="724916" y="1016"/>
                  </a:cubicBezTo>
                  <a:cubicBezTo>
                    <a:pt x="726567" y="1651"/>
                    <a:pt x="728091" y="2667"/>
                    <a:pt x="729488" y="4064"/>
                  </a:cubicBezTo>
                  <a:cubicBezTo>
                    <a:pt x="730885" y="5461"/>
                    <a:pt x="731774" y="6858"/>
                    <a:pt x="732536" y="8636"/>
                  </a:cubicBezTo>
                  <a:cubicBezTo>
                    <a:pt x="733298" y="10414"/>
                    <a:pt x="733552" y="12065"/>
                    <a:pt x="733552" y="13970"/>
                  </a:cubicBezTo>
                  <a:lnTo>
                    <a:pt x="733552" y="128905"/>
                  </a:lnTo>
                  <a:cubicBezTo>
                    <a:pt x="733552" y="130810"/>
                    <a:pt x="733171" y="132588"/>
                    <a:pt x="732536" y="134239"/>
                  </a:cubicBezTo>
                  <a:cubicBezTo>
                    <a:pt x="731901" y="135890"/>
                    <a:pt x="730885" y="137414"/>
                    <a:pt x="729488" y="138811"/>
                  </a:cubicBezTo>
                  <a:cubicBezTo>
                    <a:pt x="728091" y="140208"/>
                    <a:pt x="726694" y="141097"/>
                    <a:pt x="724916" y="141859"/>
                  </a:cubicBezTo>
                  <a:cubicBezTo>
                    <a:pt x="723138" y="142621"/>
                    <a:pt x="721487" y="142875"/>
                    <a:pt x="719582" y="142875"/>
                  </a:cubicBezTo>
                  <a:lnTo>
                    <a:pt x="13970" y="142875"/>
                  </a:lnTo>
                  <a:cubicBezTo>
                    <a:pt x="12065" y="142875"/>
                    <a:pt x="10287" y="142494"/>
                    <a:pt x="8636" y="141859"/>
                  </a:cubicBezTo>
                  <a:cubicBezTo>
                    <a:pt x="6985" y="141224"/>
                    <a:pt x="5461" y="140208"/>
                    <a:pt x="4064" y="138811"/>
                  </a:cubicBezTo>
                  <a:cubicBezTo>
                    <a:pt x="2667" y="137414"/>
                    <a:pt x="1778" y="136017"/>
                    <a:pt x="1016" y="134239"/>
                  </a:cubicBezTo>
                  <a:cubicBezTo>
                    <a:pt x="254" y="132461"/>
                    <a:pt x="0" y="130810"/>
                    <a:pt x="0" y="128905"/>
                  </a:cubicBezTo>
                  <a:close/>
                </a:path>
              </a:pathLst>
            </a:custGeom>
            <a:solidFill>
              <a:srgbClr val="2D344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35775" y="1025525"/>
              <a:ext cx="685927" cy="142875"/>
            </a:xfrm>
            <a:custGeom>
              <a:avLst/>
              <a:gdLst/>
              <a:ahLst/>
              <a:cxnLst/>
              <a:rect r="r" b="b" t="t" l="l"/>
              <a:pathLst>
                <a:path h="142875" w="685927">
                  <a:moveTo>
                    <a:pt x="0" y="128905"/>
                  </a:moveTo>
                  <a:lnTo>
                    <a:pt x="0" y="13970"/>
                  </a:lnTo>
                  <a:cubicBezTo>
                    <a:pt x="0" y="12065"/>
                    <a:pt x="381" y="10287"/>
                    <a:pt x="1016" y="8636"/>
                  </a:cubicBezTo>
                  <a:cubicBezTo>
                    <a:pt x="1651" y="6985"/>
                    <a:pt x="2667" y="5461"/>
                    <a:pt x="4064" y="4064"/>
                  </a:cubicBezTo>
                  <a:cubicBezTo>
                    <a:pt x="5461" y="2667"/>
                    <a:pt x="6858" y="1778"/>
                    <a:pt x="8636" y="1016"/>
                  </a:cubicBezTo>
                  <a:cubicBezTo>
                    <a:pt x="10414" y="254"/>
                    <a:pt x="12065" y="0"/>
                    <a:pt x="13970" y="0"/>
                  </a:cubicBezTo>
                  <a:lnTo>
                    <a:pt x="671957" y="0"/>
                  </a:lnTo>
                  <a:cubicBezTo>
                    <a:pt x="673862" y="0"/>
                    <a:pt x="675640" y="381"/>
                    <a:pt x="677291" y="1016"/>
                  </a:cubicBezTo>
                  <a:cubicBezTo>
                    <a:pt x="678942" y="1651"/>
                    <a:pt x="680466" y="2667"/>
                    <a:pt x="681863" y="4064"/>
                  </a:cubicBezTo>
                  <a:cubicBezTo>
                    <a:pt x="683260" y="5461"/>
                    <a:pt x="684149" y="6858"/>
                    <a:pt x="684911" y="8636"/>
                  </a:cubicBezTo>
                  <a:cubicBezTo>
                    <a:pt x="685673" y="10414"/>
                    <a:pt x="685927" y="12065"/>
                    <a:pt x="685927" y="13970"/>
                  </a:cubicBezTo>
                  <a:lnTo>
                    <a:pt x="685927" y="128905"/>
                  </a:lnTo>
                  <a:cubicBezTo>
                    <a:pt x="685927" y="130810"/>
                    <a:pt x="685546" y="132588"/>
                    <a:pt x="684911" y="134239"/>
                  </a:cubicBezTo>
                  <a:cubicBezTo>
                    <a:pt x="684276" y="135890"/>
                    <a:pt x="683260" y="137414"/>
                    <a:pt x="681863" y="138811"/>
                  </a:cubicBezTo>
                  <a:cubicBezTo>
                    <a:pt x="680466" y="140208"/>
                    <a:pt x="679069" y="141097"/>
                    <a:pt x="677291" y="141859"/>
                  </a:cubicBezTo>
                  <a:cubicBezTo>
                    <a:pt x="675513" y="142621"/>
                    <a:pt x="673862" y="142875"/>
                    <a:pt x="671957" y="142875"/>
                  </a:cubicBezTo>
                  <a:lnTo>
                    <a:pt x="13970" y="142875"/>
                  </a:lnTo>
                  <a:cubicBezTo>
                    <a:pt x="12064" y="142875"/>
                    <a:pt x="10287" y="142494"/>
                    <a:pt x="8636" y="141859"/>
                  </a:cubicBezTo>
                  <a:cubicBezTo>
                    <a:pt x="6985" y="141224"/>
                    <a:pt x="5461" y="140208"/>
                    <a:pt x="4063" y="138811"/>
                  </a:cubicBezTo>
                  <a:cubicBezTo>
                    <a:pt x="2667" y="137414"/>
                    <a:pt x="1777" y="136017"/>
                    <a:pt x="1015" y="134239"/>
                  </a:cubicBezTo>
                  <a:cubicBezTo>
                    <a:pt x="253" y="132461"/>
                    <a:pt x="0" y="130810"/>
                    <a:pt x="0" y="128905"/>
                  </a:cubicBezTo>
                  <a:close/>
                </a:path>
              </a:pathLst>
            </a:custGeom>
            <a:solidFill>
              <a:srgbClr val="2D344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61540" y="492290"/>
            <a:ext cx="7371457" cy="412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8"/>
              </a:lnSpc>
            </a:pPr>
            <a:r>
              <a:rPr lang="en-US" sz="249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Arquitectura Tecnológica y Ciberseguridad Cloud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91288" y="993981"/>
            <a:ext cx="28146" cy="15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2868" y="6061281"/>
            <a:ext cx="3045762" cy="15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Firebase Storage estructurado por flota y perfiles de usuario.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2868" y="5413581"/>
            <a:ext cx="3258388" cy="15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Flutter &amp; Dart con diseño responsive, sin overflow en móvil ni PC.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1540" y="984456"/>
            <a:ext cx="5948143" cy="434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6"/>
              </a:lnSpc>
            </a:pP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Infraestructura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moderna,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reactiva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escalable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diseñada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para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entornos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alta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demanda</a:t>
            </a:r>
            <a:r>
              <a:rPr lang="en-US" sz="12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2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operacional.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40066" y="6061281"/>
            <a:ext cx="369618" cy="15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Reglas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1540" y="4861131"/>
            <a:ext cx="10911632" cy="208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6"/>
              </a:lnSpc>
            </a:pPr>
            <a:r>
              <a:rPr lang="en-US" sz="1175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La arquitectura de cuatro capas garantiza separación de responsabilidades, escalabilidad horizontal y aislamiento de datos por empresa mediante reglas granulares.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40066" y="5413581"/>
            <a:ext cx="3869341" cy="15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Google Firebase con Cloud Firestore NoSQL para sincronización instantánea.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113214" y="6061281"/>
            <a:ext cx="2761879" cy="15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para aislar información confidencial de cada empresa.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31126" y="2831773"/>
            <a:ext cx="764381" cy="20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251" spc="2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Reglas de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88293" y="3029588"/>
            <a:ext cx="764679" cy="20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2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Seguridad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52595" y="1256367"/>
            <a:ext cx="737921" cy="21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2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Frontend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42006" y="1454172"/>
            <a:ext cx="515141" cy="214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2"/>
              </a:lnSpc>
            </a:pPr>
            <a:r>
              <a:rPr lang="en-US" sz="12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Flutter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14270" y="4369718"/>
            <a:ext cx="1183700" cy="37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Almac</a:t>
            </a:r>
            <a:r>
              <a:rPr lang="en-US" sz="1251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en-US" sz="12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enamiento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42041" y="2834240"/>
            <a:ext cx="702002" cy="40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3"/>
              </a:lnSpc>
            </a:pPr>
            <a:r>
              <a:rPr lang="en-US" sz="125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Backend Firebase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2868" y="5184858"/>
            <a:ext cx="610657" cy="19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095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Frontend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2868" y="5832558"/>
            <a:ext cx="1657788" cy="19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095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Almacenamiento Seguro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40066" y="5832558"/>
            <a:ext cx="1640119" cy="19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095" spc="1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Ciberseguridad Granular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29488" y="6061281"/>
            <a:ext cx="109928" cy="151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240066" y="5184858"/>
            <a:ext cx="1656893" cy="19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4"/>
              </a:lnSpc>
            </a:pPr>
            <a:r>
              <a:rPr lang="en-US" sz="1095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Backend en Tiempo Real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02463" y="6048175"/>
            <a:ext cx="741559" cy="15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Open Sans"/>
                <a:ea typeface="Open Sans"/>
                <a:cs typeface="Open Sans"/>
                <a:sym typeface="Open Sans"/>
              </a:rPr>
              <a:t>firestore.rules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37387" y="6048175"/>
            <a:ext cx="689343" cy="157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6"/>
              </a:lnSpc>
            </a:pPr>
            <a:r>
              <a:rPr lang="en-US" sz="876">
                <a:solidFill>
                  <a:srgbClr val="D6E5EF"/>
                </a:solidFill>
                <a:latin typeface="Open Sans"/>
                <a:ea typeface="Open Sans"/>
                <a:cs typeface="Open Sans"/>
                <a:sym typeface="Open Sans"/>
              </a:rPr>
              <a:t>storage.rules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3722" y="5403847"/>
            <a:ext cx="11004547" cy="755647"/>
            <a:chOff x="0" y="0"/>
            <a:chExt cx="11004550" cy="7556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877550" cy="628650"/>
            </a:xfrm>
            <a:custGeom>
              <a:avLst/>
              <a:gdLst/>
              <a:ahLst/>
              <a:cxnLst/>
              <a:rect r="r" b="b" t="t" l="l"/>
              <a:pathLst>
                <a:path h="628650" w="10877550">
                  <a:moveTo>
                    <a:pt x="0" y="60744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10856341" y="0"/>
                  </a:lnTo>
                  <a:cubicBezTo>
                    <a:pt x="10859135" y="0"/>
                    <a:pt x="10861929" y="508"/>
                    <a:pt x="10864469" y="1651"/>
                  </a:cubicBezTo>
                  <a:cubicBezTo>
                    <a:pt x="10867010" y="2794"/>
                    <a:pt x="10869423" y="4318"/>
                    <a:pt x="10871327" y="6223"/>
                  </a:cubicBezTo>
                  <a:cubicBezTo>
                    <a:pt x="10873232" y="8128"/>
                    <a:pt x="10874883" y="10541"/>
                    <a:pt x="10875899" y="13081"/>
                  </a:cubicBezTo>
                  <a:cubicBezTo>
                    <a:pt x="10876915" y="15621"/>
                    <a:pt x="10877550" y="18415"/>
                    <a:pt x="10877550" y="21209"/>
                  </a:cubicBezTo>
                  <a:lnTo>
                    <a:pt x="10877550" y="607441"/>
                  </a:lnTo>
                  <a:cubicBezTo>
                    <a:pt x="10877550" y="610235"/>
                    <a:pt x="10877042" y="613029"/>
                    <a:pt x="10875899" y="615569"/>
                  </a:cubicBezTo>
                  <a:cubicBezTo>
                    <a:pt x="10874756" y="618109"/>
                    <a:pt x="10873232" y="620522"/>
                    <a:pt x="10871327" y="622427"/>
                  </a:cubicBezTo>
                  <a:cubicBezTo>
                    <a:pt x="10869423" y="624332"/>
                    <a:pt x="10867010" y="625983"/>
                    <a:pt x="10864469" y="626999"/>
                  </a:cubicBezTo>
                  <a:cubicBezTo>
                    <a:pt x="10861929" y="628015"/>
                    <a:pt x="10859135" y="628650"/>
                    <a:pt x="10856341" y="628650"/>
                  </a:cubicBezTo>
                  <a:lnTo>
                    <a:pt x="21209" y="628650"/>
                  </a:lnTo>
                  <a:cubicBezTo>
                    <a:pt x="18415" y="628650"/>
                    <a:pt x="15621" y="628142"/>
                    <a:pt x="13081" y="626999"/>
                  </a:cubicBezTo>
                  <a:cubicBezTo>
                    <a:pt x="10541" y="625856"/>
                    <a:pt x="8128" y="624332"/>
                    <a:pt x="6223" y="622427"/>
                  </a:cubicBezTo>
                  <a:cubicBezTo>
                    <a:pt x="4318" y="620522"/>
                    <a:pt x="2667" y="618109"/>
                    <a:pt x="1651" y="615569"/>
                  </a:cubicBezTo>
                  <a:cubicBezTo>
                    <a:pt x="635" y="613029"/>
                    <a:pt x="0" y="610235"/>
                    <a:pt x="0" y="607441"/>
                  </a:cubicBezTo>
                  <a:close/>
                </a:path>
              </a:pathLst>
            </a:custGeom>
            <a:solidFill>
              <a:srgbClr val="0D3E73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6827" y="293243"/>
              <a:ext cx="148717" cy="148844"/>
            </a:xfrm>
            <a:custGeom>
              <a:avLst/>
              <a:gdLst/>
              <a:ahLst/>
              <a:cxnLst/>
              <a:rect r="r" b="b" t="t" l="l"/>
              <a:pathLst>
                <a:path h="148844" w="148717">
                  <a:moveTo>
                    <a:pt x="21209" y="15875"/>
                  </a:moveTo>
                  <a:cubicBezTo>
                    <a:pt x="18288" y="15875"/>
                    <a:pt x="15875" y="18288"/>
                    <a:pt x="15875" y="21209"/>
                  </a:cubicBezTo>
                  <a:lnTo>
                    <a:pt x="15875" y="127508"/>
                  </a:lnTo>
                  <a:cubicBezTo>
                    <a:pt x="15875" y="130429"/>
                    <a:pt x="18288" y="132842"/>
                    <a:pt x="21209" y="132842"/>
                  </a:cubicBezTo>
                  <a:lnTo>
                    <a:pt x="95631" y="132842"/>
                  </a:lnTo>
                  <a:lnTo>
                    <a:pt x="95631" y="106299"/>
                  </a:lnTo>
                  <a:cubicBezTo>
                    <a:pt x="95631" y="100457"/>
                    <a:pt x="100330" y="95631"/>
                    <a:pt x="106299" y="95631"/>
                  </a:cubicBezTo>
                  <a:lnTo>
                    <a:pt x="132842" y="95631"/>
                  </a:lnTo>
                  <a:lnTo>
                    <a:pt x="132842" y="21209"/>
                  </a:lnTo>
                  <a:cubicBezTo>
                    <a:pt x="132842" y="18288"/>
                    <a:pt x="130429" y="15875"/>
                    <a:pt x="127508" y="15875"/>
                  </a:cubicBezTo>
                  <a:lnTo>
                    <a:pt x="21209" y="15875"/>
                  </a:lnTo>
                  <a:close/>
                  <a:moveTo>
                    <a:pt x="95631" y="148717"/>
                  </a:moveTo>
                  <a:lnTo>
                    <a:pt x="21209" y="148717"/>
                  </a:lnTo>
                  <a:cubicBezTo>
                    <a:pt x="9525" y="148717"/>
                    <a:pt x="0" y="139192"/>
                    <a:pt x="0" y="127508"/>
                  </a:cubicBezTo>
                  <a:lnTo>
                    <a:pt x="0" y="21209"/>
                  </a:lnTo>
                  <a:cubicBezTo>
                    <a:pt x="0" y="9525"/>
                    <a:pt x="9525" y="0"/>
                    <a:pt x="21209" y="0"/>
                  </a:cubicBezTo>
                  <a:lnTo>
                    <a:pt x="127508" y="0"/>
                  </a:lnTo>
                  <a:cubicBezTo>
                    <a:pt x="139192" y="0"/>
                    <a:pt x="148717" y="9525"/>
                    <a:pt x="148717" y="21209"/>
                  </a:cubicBezTo>
                  <a:lnTo>
                    <a:pt x="148717" y="95631"/>
                  </a:lnTo>
                  <a:lnTo>
                    <a:pt x="148717" y="97409"/>
                  </a:lnTo>
                  <a:cubicBezTo>
                    <a:pt x="148717" y="102997"/>
                    <a:pt x="146431" y="108458"/>
                    <a:pt x="142494" y="112522"/>
                  </a:cubicBezTo>
                  <a:lnTo>
                    <a:pt x="112395" y="142621"/>
                  </a:lnTo>
                  <a:cubicBezTo>
                    <a:pt x="108458" y="146558"/>
                    <a:pt x="102997" y="148844"/>
                    <a:pt x="97282" y="148844"/>
                  </a:cubicBezTo>
                  <a:lnTo>
                    <a:pt x="95504" y="148844"/>
                  </a:lnTo>
                  <a:close/>
                </a:path>
              </a:pathLst>
            </a:custGeom>
            <a:solidFill>
              <a:srgbClr val="75B1F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47516" y="1965322"/>
            <a:ext cx="1496959" cy="3394072"/>
            <a:chOff x="0" y="0"/>
            <a:chExt cx="1496962" cy="3394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39012" y="63500"/>
              <a:ext cx="19050" cy="3267075"/>
            </a:xfrm>
            <a:custGeom>
              <a:avLst/>
              <a:gdLst/>
              <a:ahLst/>
              <a:cxnLst/>
              <a:rect r="r" b="b" t="t" l="l"/>
              <a:pathLst>
                <a:path h="3267075" w="19050">
                  <a:moveTo>
                    <a:pt x="0" y="325755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3257550"/>
                  </a:lnTo>
                  <a:cubicBezTo>
                    <a:pt x="19050" y="3260217"/>
                    <a:pt x="18161" y="3262376"/>
                    <a:pt x="16256" y="3264281"/>
                  </a:cubicBezTo>
                  <a:cubicBezTo>
                    <a:pt x="14351" y="3266186"/>
                    <a:pt x="12192" y="3267075"/>
                    <a:pt x="9525" y="3267075"/>
                  </a:cubicBezTo>
                  <a:cubicBezTo>
                    <a:pt x="6858" y="3267075"/>
                    <a:pt x="4699" y="3266186"/>
                    <a:pt x="2794" y="3264281"/>
                  </a:cubicBezTo>
                  <a:cubicBezTo>
                    <a:pt x="889" y="3262376"/>
                    <a:pt x="0" y="3260217"/>
                    <a:pt x="0" y="3257550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24447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58800" y="6350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35979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359790" y="0"/>
                  </a:lnTo>
                  <a:cubicBezTo>
                    <a:pt x="362584" y="0"/>
                    <a:pt x="365378" y="508"/>
                    <a:pt x="367918" y="1651"/>
                  </a:cubicBezTo>
                  <a:cubicBezTo>
                    <a:pt x="370458" y="2794"/>
                    <a:pt x="372871" y="4318"/>
                    <a:pt x="374776" y="6223"/>
                  </a:cubicBezTo>
                  <a:cubicBezTo>
                    <a:pt x="376681" y="8128"/>
                    <a:pt x="378332" y="10541"/>
                    <a:pt x="379348" y="13081"/>
                  </a:cubicBezTo>
                  <a:cubicBezTo>
                    <a:pt x="380364" y="15621"/>
                    <a:pt x="380999" y="18415"/>
                    <a:pt x="380999" y="21209"/>
                  </a:cubicBezTo>
                  <a:lnTo>
                    <a:pt x="380999" y="359791"/>
                  </a:lnTo>
                  <a:cubicBezTo>
                    <a:pt x="380999" y="362585"/>
                    <a:pt x="380491" y="365379"/>
                    <a:pt x="379348" y="367919"/>
                  </a:cubicBezTo>
                  <a:cubicBezTo>
                    <a:pt x="378205" y="370459"/>
                    <a:pt x="376681" y="372872"/>
                    <a:pt x="374776" y="374777"/>
                  </a:cubicBezTo>
                  <a:cubicBezTo>
                    <a:pt x="372871" y="376682"/>
                    <a:pt x="370458" y="378333"/>
                    <a:pt x="367918" y="379349"/>
                  </a:cubicBezTo>
                  <a:cubicBezTo>
                    <a:pt x="365378" y="380365"/>
                    <a:pt x="362584" y="381000"/>
                    <a:pt x="359790" y="381000"/>
                  </a:cubicBezTo>
                  <a:lnTo>
                    <a:pt x="21208" y="381000"/>
                  </a:lnTo>
                  <a:cubicBezTo>
                    <a:pt x="18415" y="381000"/>
                    <a:pt x="15621" y="380492"/>
                    <a:pt x="13081" y="379349"/>
                  </a:cubicBezTo>
                  <a:cubicBezTo>
                    <a:pt x="10541" y="378206"/>
                    <a:pt x="8128" y="376682"/>
                    <a:pt x="6223" y="374777"/>
                  </a:cubicBezTo>
                  <a:cubicBezTo>
                    <a:pt x="4318" y="372872"/>
                    <a:pt x="2667" y="370459"/>
                    <a:pt x="1651" y="367919"/>
                  </a:cubicBezTo>
                  <a:cubicBezTo>
                    <a:pt x="635" y="365379"/>
                    <a:pt x="0" y="362585"/>
                    <a:pt x="0" y="359791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9098" y="1225550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57149" y="1044575"/>
              <a:ext cx="381000" cy="380873"/>
            </a:xfrm>
            <a:custGeom>
              <a:avLst/>
              <a:gdLst/>
              <a:ahLst/>
              <a:cxnLst/>
              <a:rect r="r" b="b" t="t" l="l"/>
              <a:pathLst>
                <a:path h="380873" w="381000">
                  <a:moveTo>
                    <a:pt x="0" y="35979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359790" y="0"/>
                  </a:lnTo>
                  <a:cubicBezTo>
                    <a:pt x="362584" y="0"/>
                    <a:pt x="365378" y="508"/>
                    <a:pt x="367918" y="1651"/>
                  </a:cubicBezTo>
                  <a:cubicBezTo>
                    <a:pt x="370458" y="2794"/>
                    <a:pt x="372871" y="4318"/>
                    <a:pt x="374776" y="6223"/>
                  </a:cubicBezTo>
                  <a:cubicBezTo>
                    <a:pt x="376681" y="8128"/>
                    <a:pt x="378332" y="10541"/>
                    <a:pt x="379348" y="13081"/>
                  </a:cubicBezTo>
                  <a:cubicBezTo>
                    <a:pt x="380364" y="15621"/>
                    <a:pt x="380999" y="18415"/>
                    <a:pt x="380999" y="21209"/>
                  </a:cubicBezTo>
                  <a:lnTo>
                    <a:pt x="380999" y="359664"/>
                  </a:lnTo>
                  <a:cubicBezTo>
                    <a:pt x="380999" y="362458"/>
                    <a:pt x="380491" y="365252"/>
                    <a:pt x="379348" y="367792"/>
                  </a:cubicBezTo>
                  <a:cubicBezTo>
                    <a:pt x="378205" y="370332"/>
                    <a:pt x="376681" y="372745"/>
                    <a:pt x="374776" y="374650"/>
                  </a:cubicBezTo>
                  <a:cubicBezTo>
                    <a:pt x="372871" y="376555"/>
                    <a:pt x="370458" y="378206"/>
                    <a:pt x="367918" y="379222"/>
                  </a:cubicBezTo>
                  <a:cubicBezTo>
                    <a:pt x="365378" y="380238"/>
                    <a:pt x="362584" y="380873"/>
                    <a:pt x="359790" y="380873"/>
                  </a:cubicBezTo>
                  <a:lnTo>
                    <a:pt x="21336" y="380873"/>
                  </a:lnTo>
                  <a:cubicBezTo>
                    <a:pt x="18542" y="380873"/>
                    <a:pt x="15748" y="380365"/>
                    <a:pt x="13208" y="379222"/>
                  </a:cubicBezTo>
                  <a:cubicBezTo>
                    <a:pt x="10668" y="378079"/>
                    <a:pt x="8255" y="376555"/>
                    <a:pt x="6350" y="374650"/>
                  </a:cubicBezTo>
                  <a:cubicBezTo>
                    <a:pt x="4445" y="372745"/>
                    <a:pt x="2794" y="370332"/>
                    <a:pt x="1778" y="367792"/>
                  </a:cubicBezTo>
                  <a:cubicBezTo>
                    <a:pt x="762" y="365252"/>
                    <a:pt x="127" y="362458"/>
                    <a:pt x="127" y="359664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2092325"/>
              <a:ext cx="514350" cy="19050"/>
            </a:xfrm>
            <a:custGeom>
              <a:avLst/>
              <a:gdLst/>
              <a:ahLst/>
              <a:cxnLst/>
              <a:rect r="r" b="b" t="t" l="l"/>
              <a:pathLst>
                <a:path h="19050" w="5143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04825" y="0"/>
                  </a:lnTo>
                  <a:cubicBezTo>
                    <a:pt x="507492" y="0"/>
                    <a:pt x="509651" y="889"/>
                    <a:pt x="511556" y="2794"/>
                  </a:cubicBezTo>
                  <a:cubicBezTo>
                    <a:pt x="513461" y="4699"/>
                    <a:pt x="514350" y="6858"/>
                    <a:pt x="514350" y="9525"/>
                  </a:cubicBezTo>
                  <a:cubicBezTo>
                    <a:pt x="514350" y="12192"/>
                    <a:pt x="513461" y="14351"/>
                    <a:pt x="511556" y="16256"/>
                  </a:cubicBezTo>
                  <a:cubicBezTo>
                    <a:pt x="509651" y="18161"/>
                    <a:pt x="507492" y="19050"/>
                    <a:pt x="50482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585F6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58800" y="1911350"/>
              <a:ext cx="381000" cy="380873"/>
            </a:xfrm>
            <a:custGeom>
              <a:avLst/>
              <a:gdLst/>
              <a:ahLst/>
              <a:cxnLst/>
              <a:rect r="r" b="b" t="t" l="l"/>
              <a:pathLst>
                <a:path h="380873" w="381000">
                  <a:moveTo>
                    <a:pt x="0" y="359791"/>
                  </a:moveTo>
                  <a:lnTo>
                    <a:pt x="0" y="21209"/>
                  </a:lnTo>
                  <a:cubicBezTo>
                    <a:pt x="0" y="18415"/>
                    <a:pt x="508" y="15621"/>
                    <a:pt x="1651" y="13081"/>
                  </a:cubicBezTo>
                  <a:cubicBezTo>
                    <a:pt x="2794" y="10541"/>
                    <a:pt x="4318" y="8128"/>
                    <a:pt x="6223" y="6223"/>
                  </a:cubicBezTo>
                  <a:cubicBezTo>
                    <a:pt x="8128" y="4318"/>
                    <a:pt x="10541" y="2667"/>
                    <a:pt x="13081" y="1651"/>
                  </a:cubicBezTo>
                  <a:cubicBezTo>
                    <a:pt x="15621" y="635"/>
                    <a:pt x="18415" y="0"/>
                    <a:pt x="21209" y="0"/>
                  </a:cubicBezTo>
                  <a:lnTo>
                    <a:pt x="359790" y="0"/>
                  </a:lnTo>
                  <a:cubicBezTo>
                    <a:pt x="362584" y="0"/>
                    <a:pt x="365378" y="508"/>
                    <a:pt x="367918" y="1651"/>
                  </a:cubicBezTo>
                  <a:cubicBezTo>
                    <a:pt x="370458" y="2794"/>
                    <a:pt x="372871" y="4318"/>
                    <a:pt x="374776" y="6223"/>
                  </a:cubicBezTo>
                  <a:cubicBezTo>
                    <a:pt x="376681" y="8128"/>
                    <a:pt x="378332" y="10541"/>
                    <a:pt x="379348" y="13081"/>
                  </a:cubicBezTo>
                  <a:cubicBezTo>
                    <a:pt x="380364" y="15621"/>
                    <a:pt x="380999" y="18415"/>
                    <a:pt x="380999" y="21209"/>
                  </a:cubicBezTo>
                  <a:lnTo>
                    <a:pt x="380999" y="359664"/>
                  </a:lnTo>
                  <a:cubicBezTo>
                    <a:pt x="380999" y="362458"/>
                    <a:pt x="380491" y="365252"/>
                    <a:pt x="379348" y="367792"/>
                  </a:cubicBezTo>
                  <a:cubicBezTo>
                    <a:pt x="378205" y="370332"/>
                    <a:pt x="376681" y="372745"/>
                    <a:pt x="374776" y="374650"/>
                  </a:cubicBezTo>
                  <a:cubicBezTo>
                    <a:pt x="372871" y="376555"/>
                    <a:pt x="370458" y="378206"/>
                    <a:pt x="367918" y="379222"/>
                  </a:cubicBezTo>
                  <a:cubicBezTo>
                    <a:pt x="365378" y="380238"/>
                    <a:pt x="362584" y="380873"/>
                    <a:pt x="359790" y="380873"/>
                  </a:cubicBezTo>
                  <a:lnTo>
                    <a:pt x="21208" y="380873"/>
                  </a:lnTo>
                  <a:cubicBezTo>
                    <a:pt x="18415" y="380873"/>
                    <a:pt x="15621" y="380365"/>
                    <a:pt x="13081" y="379222"/>
                  </a:cubicBezTo>
                  <a:cubicBezTo>
                    <a:pt x="10541" y="378079"/>
                    <a:pt x="8128" y="376555"/>
                    <a:pt x="6223" y="374650"/>
                  </a:cubicBezTo>
                  <a:cubicBezTo>
                    <a:pt x="4318" y="372745"/>
                    <a:pt x="2667" y="370332"/>
                    <a:pt x="1651" y="367792"/>
                  </a:cubicBezTo>
                  <a:cubicBezTo>
                    <a:pt x="635" y="365252"/>
                    <a:pt x="0" y="362458"/>
                    <a:pt x="0" y="359664"/>
                  </a:cubicBezTo>
                  <a:close/>
                </a:path>
              </a:pathLst>
            </a:custGeom>
            <a:solidFill>
              <a:srgbClr val="3F465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61540" y="716309"/>
            <a:ext cx="7550287" cy="57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348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Metodología de Trabajo y Carta Gantt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4103" y="1597552"/>
            <a:ext cx="43043" cy="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702" y="2445277"/>
            <a:ext cx="4402264" cy="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Levantamiento de requerimientos con actores logísticos,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3728" y="2711977"/>
            <a:ext cx="4071537" cy="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diseño de arquitectura y modelado de base de datos.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8608" y="4302652"/>
            <a:ext cx="4629817" cy="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Módulo de hitos operacionales, generación de reportes PDF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22419" y="4559827"/>
            <a:ext cx="2165356" cy="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y pruebas finales de campo.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1540" y="1597552"/>
            <a:ext cx="7643717" cy="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Desarrollo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ágil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18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semanas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semestre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académico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con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Scrum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adaptado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desarrollo</a:t>
            </a: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individual.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4285" y="5664727"/>
            <a:ext cx="10127875" cy="23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sz="133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Cada sprint quincenal incluye revisión de avances y feedback directo del cliente para asegurar alineación con requerimientos reales.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46554" y="3416827"/>
            <a:ext cx="4445984" cy="50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Desarrollo de Billetera Digital, gestión de fletes y panel de validación para clientes.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25382" y="3003994"/>
            <a:ext cx="143742" cy="35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9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27020" y="3861244"/>
            <a:ext cx="140560" cy="35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9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43241" y="2013394"/>
            <a:ext cx="107261" cy="351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9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740666" y="3901507"/>
            <a:ext cx="2554786" cy="29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Fase 3 — Semanas 13 a 18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75524" y="2053657"/>
            <a:ext cx="2315356" cy="29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Fase 1 — Semanas 1 a 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46554" y="3034732"/>
            <a:ext cx="2472119" cy="29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3"/>
              </a:lnSpc>
            </a:pPr>
            <a:r>
              <a:rPr lang="en-US" sz="1674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Fase 2 — Semanas 6 a 12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15075" y="1457325"/>
            <a:ext cx="4705350" cy="4705350"/>
            <a:chOff x="0" y="0"/>
            <a:chExt cx="6273800" cy="6273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73800" cy="6273673"/>
            </a:xfrm>
            <a:custGeom>
              <a:avLst/>
              <a:gdLst/>
              <a:ahLst/>
              <a:cxnLst/>
              <a:rect r="r" b="b" t="t" l="l"/>
              <a:pathLst>
                <a:path h="6273673" w="6273800">
                  <a:moveTo>
                    <a:pt x="28321" y="0"/>
                  </a:moveTo>
                  <a:cubicBezTo>
                    <a:pt x="20574" y="0"/>
                    <a:pt x="13843" y="2794"/>
                    <a:pt x="8255" y="8255"/>
                  </a:cubicBezTo>
                  <a:cubicBezTo>
                    <a:pt x="2667" y="13716"/>
                    <a:pt x="0" y="20447"/>
                    <a:pt x="0" y="28321"/>
                  </a:cubicBezTo>
                  <a:lnTo>
                    <a:pt x="0" y="6245479"/>
                  </a:lnTo>
                  <a:cubicBezTo>
                    <a:pt x="0" y="6253226"/>
                    <a:pt x="2794" y="6259957"/>
                    <a:pt x="8255" y="6265418"/>
                  </a:cubicBezTo>
                  <a:cubicBezTo>
                    <a:pt x="13716" y="6270879"/>
                    <a:pt x="20447" y="6273673"/>
                    <a:pt x="28321" y="6273673"/>
                  </a:cubicBezTo>
                  <a:lnTo>
                    <a:pt x="6245479" y="6273673"/>
                  </a:lnTo>
                  <a:cubicBezTo>
                    <a:pt x="6253353" y="6273673"/>
                    <a:pt x="6259957" y="6270879"/>
                    <a:pt x="6265545" y="6265418"/>
                  </a:cubicBezTo>
                  <a:cubicBezTo>
                    <a:pt x="6271133" y="6259957"/>
                    <a:pt x="6273800" y="6253226"/>
                    <a:pt x="6273800" y="6245352"/>
                  </a:cubicBezTo>
                  <a:lnTo>
                    <a:pt x="6273800" y="28321"/>
                  </a:lnTo>
                  <a:cubicBezTo>
                    <a:pt x="6273800" y="20447"/>
                    <a:pt x="6271006" y="13843"/>
                    <a:pt x="6265545" y="8255"/>
                  </a:cubicBezTo>
                  <a:cubicBezTo>
                    <a:pt x="6260084" y="2667"/>
                    <a:pt x="6253226" y="0"/>
                    <a:pt x="624547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-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1540" y="478184"/>
            <a:ext cx="9810112" cy="570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8"/>
              </a:lnSpc>
            </a:pPr>
            <a:r>
              <a:rPr lang="en-US" sz="3348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Estado Actual y Proyección a Machine Learning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1540" y="2625157"/>
            <a:ext cx="5175856" cy="229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674" spc="1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Despliegue Operativo</a:t>
            </a:r>
          </a:p>
          <a:p>
            <a:pPr algn="l">
              <a:lnSpc>
                <a:spcPts val="202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Aplicación compilada, firmada digitalmente y publicada en el canal de </a:t>
            </a:r>
            <a:r>
              <a:rPr lang="en-US" b="true" sz="1339">
                <a:solidFill>
                  <a:srgbClr val="D6E5EF"/>
                </a:solidFill>
                <a:latin typeface="Roboto Bold"/>
                <a:ea typeface="Roboto Bold"/>
                <a:cs typeface="Roboto Bold"/>
                <a:sym typeface="Roboto Bold"/>
              </a:rPr>
              <a:t>Prueba Abierta en Google Play Console</a:t>
            </a: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  <a:p>
            <a:pPr algn="l">
              <a:lnSpc>
                <a:spcPts val="2531"/>
              </a:lnSpc>
            </a:pPr>
            <a:r>
              <a:rPr lang="en-US" sz="1674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Base de Datos Estructurada</a:t>
            </a:r>
          </a:p>
          <a:p>
            <a:pPr algn="l">
              <a:lnSpc>
                <a:spcPts val="2025"/>
              </a:lnSpc>
            </a:pPr>
            <a:r>
              <a:rPr lang="en-US" sz="1339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Cada flete registra marcas de tiempo exactas en terminales portuarios y rutas de carretera, generando un historial valioso para análisis predictivo.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4572000" cy="6858000"/>
            <a:chOff x="0" y="0"/>
            <a:chExt cx="6096000" cy="914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960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2" t="0" r="-6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165722" y="1184272"/>
            <a:ext cx="3213097" cy="2346322"/>
          </a:xfrm>
          <a:custGeom>
            <a:avLst/>
            <a:gdLst/>
            <a:ahLst/>
            <a:cxnLst/>
            <a:rect r="r" b="b" t="t" l="l"/>
            <a:pathLst>
              <a:path h="2346322" w="3213097">
                <a:moveTo>
                  <a:pt x="0" y="0"/>
                </a:moveTo>
                <a:lnTo>
                  <a:pt x="3213097" y="0"/>
                </a:lnTo>
                <a:lnTo>
                  <a:pt x="3213097" y="2346322"/>
                </a:lnTo>
                <a:lnTo>
                  <a:pt x="0" y="23463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65722" y="5441947"/>
            <a:ext cx="6432547" cy="946147"/>
          </a:xfrm>
          <a:custGeom>
            <a:avLst/>
            <a:gdLst/>
            <a:ahLst/>
            <a:cxnLst/>
            <a:rect r="r" b="b" t="t" l="l"/>
            <a:pathLst>
              <a:path h="946147" w="6432547">
                <a:moveTo>
                  <a:pt x="0" y="0"/>
                </a:moveTo>
                <a:lnTo>
                  <a:pt x="6432547" y="0"/>
                </a:lnTo>
                <a:lnTo>
                  <a:pt x="6432547" y="946147"/>
                </a:lnTo>
                <a:lnTo>
                  <a:pt x="0" y="94614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165722" y="3536947"/>
            <a:ext cx="6432547" cy="1879597"/>
          </a:xfrm>
          <a:custGeom>
            <a:avLst/>
            <a:gdLst/>
            <a:ahLst/>
            <a:cxnLst/>
            <a:rect r="r" b="b" t="t" l="l"/>
            <a:pathLst>
              <a:path h="1879597" w="6432547">
                <a:moveTo>
                  <a:pt x="0" y="0"/>
                </a:moveTo>
                <a:lnTo>
                  <a:pt x="6432547" y="0"/>
                </a:lnTo>
                <a:lnTo>
                  <a:pt x="6432547" y="1879597"/>
                </a:lnTo>
                <a:lnTo>
                  <a:pt x="0" y="18795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85172" y="1184272"/>
            <a:ext cx="3213097" cy="2346322"/>
          </a:xfrm>
          <a:custGeom>
            <a:avLst/>
            <a:gdLst/>
            <a:ahLst/>
            <a:cxnLst/>
            <a:rect r="r" b="b" t="t" l="l"/>
            <a:pathLst>
              <a:path h="2346322" w="3213097">
                <a:moveTo>
                  <a:pt x="0" y="0"/>
                </a:moveTo>
                <a:lnTo>
                  <a:pt x="3213097" y="0"/>
                </a:lnTo>
                <a:lnTo>
                  <a:pt x="3213097" y="2346322"/>
                </a:lnTo>
                <a:lnTo>
                  <a:pt x="0" y="234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33540" y="473316"/>
            <a:ext cx="4578325" cy="551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7"/>
              </a:lnSpc>
            </a:pPr>
            <a:r>
              <a:rPr lang="en-US" sz="3162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Conclusiones e Impacto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94131" y="1979781"/>
            <a:ext cx="2813799" cy="105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580" spc="3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Aporte al Sector</a:t>
            </a:r>
          </a:p>
          <a:p>
            <a:pPr algn="l">
              <a:lnSpc>
                <a:spcPts val="1875"/>
              </a:lnSpc>
            </a:pP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Solución moderna que elimina la fricción de llamadas y WhatsApp en el transporte portuario chileno.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94131" y="4341981"/>
            <a:ext cx="5787200" cy="81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58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Validación Real</a:t>
            </a:r>
          </a:p>
          <a:p>
            <a:pPr algn="l">
              <a:lnSpc>
                <a:spcPts val="1875"/>
              </a:lnSpc>
            </a:pP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Software probado con usuarios reales de la industria logística en San Antonio y Valparaíso.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10752" y="1979781"/>
            <a:ext cx="2721197" cy="129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4"/>
              </a:lnSpc>
            </a:pPr>
            <a:r>
              <a:rPr lang="en-US" sz="1580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Integración Académica</a:t>
            </a:r>
          </a:p>
          <a:p>
            <a:pPr algn="l">
              <a:lnSpc>
                <a:spcPts val="1875"/>
              </a:lnSpc>
            </a:pPr>
            <a:r>
              <a:rPr lang="en-US" sz="1264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Demostración práctica de competencias en desarrollo multiplataforma, arquitectura cloud y seguridad informática.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55481" y="5673404"/>
            <a:ext cx="5614749" cy="467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5"/>
              </a:lnSpc>
            </a:pPr>
            <a:r>
              <a:rPr lang="en-US" b="true" sz="1264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CargoFlow</a:t>
            </a:r>
            <a:r>
              <a:rPr lang="en-US" sz="126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representa un paso concreto hacia la digitalización del transporte terrestre portuario en Chile, con potencial de escalar a otros puertos del país.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DAHUEe7lSGk</dc:identifier>
  <dcterms:modified xsi:type="dcterms:W3CDTF">2011-08-01T06:04:30Z</dcterms:modified>
  <cp:revision>1</cp:revision>
  <dc:title>CargoFlow-Plataforma-Digital-para-el-Transporte-Portuario.pdf</dc:title>
</cp:coreProperties>
</file>